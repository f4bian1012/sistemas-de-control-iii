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728655" cy="10515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Arial"/>
              </a:rPr>
              <a:t>INTRODUCCIÓN AL ESPACIO DE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42255" y="318211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728655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898989"/>
                </a:solidFill>
                <a:latin typeface="Arial"/>
              </a:rPr>
              <a:t>Estado, variables, vectores y comparación con el enfoque clásico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0448"/>
            <a:ext cx="73152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898989"/>
                </a:solidFill>
                <a:latin typeface="Arial"/>
              </a:rPr>
              <a:t>Jheyson Fabian Villavisan Buitrago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28232"/>
            <a:ext cx="8229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98989"/>
                </a:solidFill>
                <a:latin typeface="Arial"/>
              </a:rPr>
              <a:t>Ingeniería Mecatrónica · Escuela Tecnológica Instituto Técnico Central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CONTENIDO DE LA UNIDAD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ESPACIO DE ESTADOS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29384"/>
            <a:ext cx="713232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819656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Del enfoque clásico al espacio de estados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Motivación, definición de estado y de variable de estado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523744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606039"/>
            <a:ext cx="713232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496312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Los vectores del modelo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Vector de estados, de entradas y de salidas, con sus matrices A, B, C y 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00400"/>
            <a:ext cx="713232" cy="51206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713232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172968"/>
            <a:ext cx="9994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Utilidad y comparación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000000"/>
                </a:solidFill>
                <a:latin typeface="Arial"/>
              </a:rPr>
              <a:t>Qué habilita el enfoque moderno y en qué se diferencia del clásico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DEL ENFOQUE CLÁSICO AL ESPACIO DE ESTADOS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2383"/>
            <a:ext cx="10872216" cy="142646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1.1  Introducción al espacio de estados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1.2  ¿Qué es un espacio de estado?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1.3  ¿Qué es una variable de estado?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Arial"/>
              </a:rPr>
              <a:t>POR QUÉ NO BASTA LA FUNCIÓN DE TRANSFERENCIA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43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Arial"/>
              </a:rPr>
              <a:t>El enfoque clásico describe un sistema por la relación entre </a:t>
            </a:r>
            <a:r>
              <a:rPr sz="1814" b="1">
                <a:solidFill>
                  <a:srgbClr val="000000"/>
                </a:solidFill>
                <a:latin typeface="Arial"/>
              </a:rPr>
              <a:t>una</a:t>
            </a:r>
            <a:r>
              <a:rPr sz="1814" b="0">
                <a:solidFill>
                  <a:srgbClr val="000000"/>
                </a:solidFill>
                <a:latin typeface="Arial"/>
              </a:rPr>
              <a:t> entrada y </a:t>
            </a:r>
            <a:r>
              <a:rPr sz="1814" b="1">
                <a:solidFill>
                  <a:srgbClr val="000000"/>
                </a:solidFill>
                <a:latin typeface="Arial"/>
              </a:rPr>
              <a:t>una</a:t>
            </a:r>
            <a:r>
              <a:rPr sz="1814" b="0">
                <a:solidFill>
                  <a:srgbClr val="000000"/>
                </a:solidFill>
                <a:latin typeface="Arial"/>
              </a:rPr>
              <a:t> salida, suponiendo condiciones iniciales nulas. Es potente, pero deja fuera todo lo que ocurre dentro del sistema.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552014"/>
          <a:ext cx="10872216" cy="226812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11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5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32" b="1">
                          <a:solidFill>
                            <a:srgbClr val="FFFFFF"/>
                          </a:solidFill>
                          <a:latin typeface="Arial"/>
                        </a:rPr>
                        <a:t>LIMITACIÓN DEL ENFOQUE CLÁSICO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32" b="1">
                          <a:solidFill>
                            <a:srgbClr val="FFFFFF"/>
                          </a:solidFill>
                          <a:latin typeface="Arial"/>
                        </a:rPr>
                        <a:t>QUÉ QUEDA SIN DESCRIBIR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Solo SISO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Plantas con varias entradas y salidas acopladas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Condiciones iniciales nulas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El arranque real desde un estado cualquiera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Solo lineal e invariante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Sistemas variantes en el tiempo o no lineales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Vista entrada–salida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Variables internas que no se miden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064734"/>
            <a:ext cx="10872216" cy="5140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14" b="0">
                <a:solidFill>
                  <a:srgbClr val="000000"/>
                </a:solidFill>
                <a:latin typeface="Arial"/>
              </a:rPr>
              <a:t>El espacio de estados nace en los años sesenta con Kalman, empujado por el control óptimo y la llegada del computador digital.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DE DÓNDE SALE LA CONDICIÓN INICIAL NULA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restricción no es un capricho: aparece al aplicar la transformada de Laplace a las derivadas.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195"/>
            <a:ext cx="10872216" cy="232714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322195"/>
            <a:ext cx="54864" cy="232714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067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38a63dfdbe0960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885" y="2788539"/>
            <a:ext cx="2599182" cy="304038"/>
          </a:xfrm>
          <a:prstGeom prst="rect">
            <a:avLst/>
          </a:prstGeom>
        </p:spPr>
      </p:pic>
      <p:pic>
        <p:nvPicPr>
          <p:cNvPr id="13" name="Picture 12" descr="f_b21f75a9a7be4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383" y="3257168"/>
            <a:ext cx="3774186" cy="352044"/>
          </a:xfrm>
          <a:prstGeom prst="rect">
            <a:avLst/>
          </a:prstGeom>
        </p:spPr>
      </p:pic>
      <p:pic>
        <p:nvPicPr>
          <p:cNvPr id="14" name="Picture 13" descr="f_8aea926efbda4a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1915" y="3773805"/>
            <a:ext cx="4405122" cy="5189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Para poder despejar el cociente </a:t>
            </a:r>
            <a:r>
              <a:rPr sz="1850" b="0">
                <a:solidFill>
                  <a:srgbClr val="000000"/>
                </a:solidFill>
                <a:latin typeface="Consolas"/>
              </a:rPr>
              <a:t>Y/U</a:t>
            </a:r>
            <a:r>
              <a:rPr sz="1850" b="0">
                <a:solidFill>
                  <a:srgbClr val="000000"/>
                </a:solidFill>
                <a:latin typeface="Arial"/>
              </a:rPr>
              <a:t> hay que </a:t>
            </a:r>
            <a:r>
              <a:rPr sz="1850" b="1">
                <a:solidFill>
                  <a:srgbClr val="000000"/>
                </a:solidFill>
                <a:latin typeface="Arial"/>
              </a:rPr>
              <a:t>borrar</a:t>
            </a:r>
            <a:r>
              <a:rPr sz="1850" b="0">
                <a:solidFill>
                  <a:srgbClr val="000000"/>
                </a:solidFill>
                <a:latin typeface="Arial"/>
              </a:rPr>
              <a:t> los términos de condición inicial. Esa información no se pierde en el sistema: se pierde en el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UN MISMO SISTEMA, DOS DESCRIPCIONES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7873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60" b="0">
                <a:solidFill>
                  <a:srgbClr val="000000"/>
                </a:solidFill>
                <a:latin typeface="Arial"/>
              </a:rPr>
              <a:t>Masa-resorte-amortiguador con </a:t>
            </a:r>
            <a:r>
              <a:rPr sz="1860" b="0">
                <a:solidFill>
                  <a:srgbClr val="000000"/>
                </a:solidFill>
                <a:latin typeface="Consolas"/>
              </a:rPr>
              <a:t>m = 1</a:t>
            </a:r>
            <a:r>
              <a:rPr sz="1860" b="0">
                <a:solidFill>
                  <a:srgbClr val="000000"/>
                </a:solidFill>
                <a:latin typeface="Arial"/>
              </a:rPr>
              <a:t>, </a:t>
            </a:r>
            <a:r>
              <a:rPr sz="1860" b="0">
                <a:solidFill>
                  <a:srgbClr val="000000"/>
                </a:solidFill>
                <a:latin typeface="Consolas"/>
              </a:rPr>
              <a:t>b = 3</a:t>
            </a:r>
            <a:r>
              <a:rPr sz="1860" b="0">
                <a:solidFill>
                  <a:srgbClr val="000000"/>
                </a:solidFill>
                <a:latin typeface="Arial"/>
              </a:rPr>
              <a:t>, </a:t>
            </a:r>
            <a:r>
              <a:rPr sz="1860" b="0">
                <a:solidFill>
                  <a:srgbClr val="000000"/>
                </a:solidFill>
                <a:latin typeface="Consolas"/>
              </a:rPr>
              <a:t>k = 2</a:t>
            </a:r>
            <a:r>
              <a:rPr sz="186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294077"/>
            <a:ext cx="10872216" cy="247368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294077"/>
            <a:ext cx="54864" cy="247368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401062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ba8b8c85b1eebd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068" y="2741218"/>
            <a:ext cx="4688814" cy="275691"/>
          </a:xfrm>
          <a:prstGeom prst="rect">
            <a:avLst/>
          </a:prstGeom>
        </p:spPr>
      </p:pic>
      <p:pic>
        <p:nvPicPr>
          <p:cNvPr id="13" name="Picture 12" descr="f_293206f5cc8f0e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971" y="3165043"/>
            <a:ext cx="3047009" cy="427939"/>
          </a:xfrm>
          <a:prstGeom prst="rect">
            <a:avLst/>
          </a:prstGeom>
        </p:spPr>
      </p:pic>
      <p:pic>
        <p:nvPicPr>
          <p:cNvPr id="14" name="Picture 13" descr="f_861b5e556cd050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292" y="3741115"/>
            <a:ext cx="4314367" cy="7056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44846"/>
            <a:ext cx="10872216" cy="5275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60" b="0">
                <a:solidFill>
                  <a:srgbClr val="000000"/>
                </a:solidFill>
                <a:latin typeface="Arial"/>
              </a:rPr>
              <a:t>Los dos modelos describen la misma planta, pero el segundo también responde qué pasa si la masa arranca desplazada y con velocidad.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QUÉ INFORMACIÓN SE PIERDE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Un carro de masa unitaria obedece </a:t>
            </a:r>
            <a:r>
              <a:rPr sz="1950" b="0">
                <a:solidFill>
                  <a:srgbClr val="000000"/>
                </a:solidFill>
                <a:latin typeface="Consolas"/>
              </a:rPr>
              <a:t>ÿ + 3ẏ + 2y = u</a:t>
            </a:r>
            <a:r>
              <a:rPr sz="1950" b="0">
                <a:solidFill>
                  <a:srgbClr val="000000"/>
                </a:solidFill>
                <a:latin typeface="Arial"/>
              </a:rPr>
              <a:t>. En </a:t>
            </a:r>
            <a:r>
              <a:rPr sz="1950" b="0">
                <a:solidFill>
                  <a:srgbClr val="000000"/>
                </a:solidFill>
                <a:latin typeface="Consolas"/>
              </a:rPr>
              <a:t>t = 0</a:t>
            </a:r>
            <a:r>
              <a:rPr sz="1950" b="0">
                <a:solidFill>
                  <a:srgbClr val="000000"/>
                </a:solidFill>
                <a:latin typeface="Arial"/>
              </a:rPr>
              <a:t> el carro está desplazado </a:t>
            </a:r>
            <a:r>
              <a:rPr sz="1950" b="0">
                <a:solidFill>
                  <a:srgbClr val="000000"/>
                </a:solidFill>
                <a:latin typeface="Consolas"/>
              </a:rPr>
              <a:t>y(0) = 0,5</a:t>
            </a:r>
            <a:r>
              <a:rPr sz="1950" b="0">
                <a:solidFill>
                  <a:srgbClr val="000000"/>
                </a:solidFill>
                <a:latin typeface="Arial"/>
              </a:rPr>
              <a:t> m y quieto, </a:t>
            </a:r>
            <a:r>
              <a:rPr sz="1950" b="0">
                <a:solidFill>
                  <a:srgbClr val="000000"/>
                </a:solidFill>
                <a:latin typeface="Consolas"/>
              </a:rPr>
              <a:t>ẏ(0) = 0</a:t>
            </a:r>
            <a:r>
              <a:rPr sz="1950" b="0">
                <a:solidFill>
                  <a:srgbClr val="000000"/>
                </a:solidFill>
                <a:latin typeface="Arial"/>
              </a:rPr>
              <a:t>, con </a:t>
            </a:r>
            <a:r>
              <a:rPr sz="1950" b="0">
                <a:solidFill>
                  <a:srgbClr val="000000"/>
                </a:solidFill>
                <a:latin typeface="Consolas"/>
              </a:rPr>
              <a:t>u = 0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25902"/>
            <a:ext cx="10872216" cy="876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¿Qué predice </a:t>
            </a:r>
            <a:r>
              <a:rPr sz="1950" b="0">
                <a:solidFill>
                  <a:srgbClr val="000000"/>
                </a:solidFill>
                <a:latin typeface="Consolas"/>
              </a:rPr>
              <a:t>G(s) = 1/(s²+3s+2)</a:t>
            </a:r>
            <a:r>
              <a:rPr sz="1950" b="0">
                <a:solidFill>
                  <a:srgbClr val="000000"/>
                </a:solidFill>
                <a:latin typeface="Arial"/>
              </a:rPr>
              <a:t> para la salida?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b) ¿Qué hace realmente el carro?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c) ¿Qué debe conocerse para predecirlo?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1.1 · POR QUÉ EL ESPACIO DE ESTADOS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5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86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5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PREGUNTA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RESPUESTA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a) Predicción de G(s)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y(t) = 0 para todo t: sin entrada no hay salida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b) Comportamiento real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el resorte devuelve el carro al origen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c) Qué hace falta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el estado inicial: posición y velocidad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función de transferencia se equivoca porque </a:t>
            </a:r>
            <a:r>
              <a:rPr sz="1850" b="1">
                <a:solidFill>
                  <a:srgbClr val="000000"/>
                </a:solidFill>
                <a:latin typeface="Arial"/>
              </a:rPr>
              <a:t>descarta el estado inicial por construcción</a:t>
            </a:r>
            <a:r>
              <a:rPr sz="1850" b="0">
                <a:solidFill>
                  <a:srgbClr val="000000"/>
                </a:solidFill>
                <a:latin typeface="Arial"/>
              </a:rPr>
              <a:t>. El espacio de estados lo lleva como dato explícito del problema.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EL ESTADO Y EL ESPACIO QUE LO CONTIENE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EXPLICACIÓN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144932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144932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993392"/>
            <a:ext cx="1041501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DEFINICIÓN DE ESTADO (OGATA)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67712"/>
            <a:ext cx="10415016" cy="10104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El </a:t>
            </a:r>
            <a:r>
              <a:rPr sz="1800" b="1">
                <a:solidFill>
                  <a:srgbClr val="000000"/>
                </a:solidFill>
                <a:latin typeface="Arial"/>
              </a:rPr>
              <a:t>estado</a:t>
            </a:r>
            <a:r>
              <a:rPr sz="1800" b="0">
                <a:solidFill>
                  <a:srgbClr val="000000"/>
                </a:solidFill>
                <a:latin typeface="Arial"/>
              </a:rPr>
              <a:t> de un sistema es el conjunto más pequeño de variables tal que, conocido su valor en </a:t>
            </a:r>
            <a:r>
              <a:rPr sz="1800" b="0">
                <a:solidFill>
                  <a:srgbClr val="000000"/>
                </a:solidFill>
                <a:latin typeface="Consolas"/>
              </a:rPr>
              <a:t>t₀</a:t>
            </a:r>
            <a:r>
              <a:rPr sz="1800" b="0">
                <a:solidFill>
                  <a:srgbClr val="000000"/>
                </a:solidFill>
                <a:latin typeface="Arial"/>
              </a:rPr>
              <a:t> y conocida la entrada para </a:t>
            </a:r>
            <a:r>
              <a:rPr sz="1800" b="0">
                <a:solidFill>
                  <a:srgbClr val="000000"/>
                </a:solidFill>
                <a:latin typeface="Consolas"/>
              </a:rPr>
              <a:t>t ≥ t₀</a:t>
            </a:r>
            <a:r>
              <a:rPr sz="1800" b="0">
                <a:solidFill>
                  <a:srgbClr val="000000"/>
                </a:solidFill>
                <a:latin typeface="Arial"/>
              </a:rPr>
              <a:t>, queda determinado por completo el comportamiento del sistema para todo </a:t>
            </a:r>
            <a:r>
              <a:rPr sz="1800" b="0">
                <a:solidFill>
                  <a:srgbClr val="000000"/>
                </a:solidFill>
                <a:latin typeface="Consolas"/>
              </a:rPr>
              <a:t>t ≥ t₀</a:t>
            </a:r>
            <a:r>
              <a:rPr sz="180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09060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</a:t>
            </a:r>
            <a:r>
              <a:rPr sz="1950" b="1">
                <a:solidFill>
                  <a:srgbClr val="000000"/>
                </a:solidFill>
                <a:latin typeface="Arial"/>
              </a:rPr>
              <a:t>espacio de estados</a:t>
            </a:r>
            <a:r>
              <a:rPr sz="1950" b="0">
                <a:solidFill>
                  <a:srgbClr val="000000"/>
                </a:solidFill>
                <a:latin typeface="Arial"/>
              </a:rPr>
              <a:t> es el espacio de </a:t>
            </a:r>
            <a:r>
              <a:rPr sz="1950" b="0">
                <a:solidFill>
                  <a:srgbClr val="000000"/>
                </a:solidFill>
                <a:latin typeface="Consolas"/>
              </a:rPr>
              <a:t>n</a:t>
            </a:r>
            <a:r>
              <a:rPr sz="1950" b="0">
                <a:solidFill>
                  <a:srgbClr val="000000"/>
                </a:solidFill>
                <a:latin typeface="Arial"/>
              </a:rPr>
              <a:t> dimensiones cuyos ejes son esas variables. Un punto de ese espacio es un estado; la evolución del sistema es una </a:t>
            </a:r>
            <a:r>
              <a:rPr sz="1950" b="1">
                <a:solidFill>
                  <a:srgbClr val="000000"/>
                </a:solidFill>
                <a:latin typeface="Arial"/>
              </a:rPr>
              <a:t>trayectoria</a:t>
            </a:r>
            <a:r>
              <a:rPr sz="1950" b="0">
                <a:solidFill>
                  <a:srgbClr val="000000"/>
                </a:solidFill>
                <a:latin typeface="Arial"/>
              </a:rPr>
              <a:t> dentro de él.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Dos palabras cargan toda la definición: </a:t>
            </a:r>
            <a:r>
              <a:rPr sz="1850" b="0" i="1">
                <a:solidFill>
                  <a:srgbClr val="000000"/>
                </a:solidFill>
                <a:latin typeface="Arial"/>
              </a:rPr>
              <a:t>más pequeño</a:t>
            </a:r>
            <a:r>
              <a:rPr sz="1850" b="0">
                <a:solidFill>
                  <a:srgbClr val="000000"/>
                </a:solidFill>
                <a:latin typeface="Arial"/>
              </a:rPr>
              <a:t> y </a:t>
            </a:r>
            <a:r>
              <a:rPr sz="1850" b="0" i="1">
                <a:solidFill>
                  <a:srgbClr val="000000"/>
                </a:solidFill>
                <a:latin typeface="Arial"/>
              </a:rPr>
              <a:t>determinado por completo</a:t>
            </a:r>
            <a:r>
              <a:rPr sz="1850" b="0">
                <a:solidFill>
                  <a:srgbClr val="000000"/>
                </a:solidFill>
                <a:latin typeface="Arial"/>
              </a:rPr>
              <a:t>. Sin la primera sobran variables; sin la segunda, faltan.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Arial"/>
              </a:rPr>
              <a:t>POR QUÉ LA DIMENSIÓN ES EL ORDEN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Cada integrador del sistema guarda un número que hay que conocer para poder seguir la evolución hacia adelante: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14422"/>
            <a:ext cx="10872216" cy="205740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614422"/>
            <a:ext cx="54864" cy="205740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733294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39d5b7e51ee4e8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907" y="3080766"/>
            <a:ext cx="2247138" cy="297180"/>
          </a:xfrm>
          <a:prstGeom prst="rect">
            <a:avLst/>
          </a:prstGeom>
        </p:spPr>
      </p:pic>
      <p:pic>
        <p:nvPicPr>
          <p:cNvPr id="13" name="Picture 12" descr="f_b11d0d7c989ac3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321" y="3542538"/>
            <a:ext cx="2480310" cy="297180"/>
          </a:xfrm>
          <a:prstGeom prst="rect">
            <a:avLst/>
          </a:prstGeom>
        </p:spPr>
      </p:pic>
      <p:pic>
        <p:nvPicPr>
          <p:cNvPr id="14" name="Picture 13" descr="f_3a39661310085da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4004310"/>
            <a:ext cx="4818888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Una ecuación de orden </a:t>
            </a:r>
            <a:r>
              <a:rPr sz="1850" b="0">
                <a:solidFill>
                  <a:srgbClr val="000000"/>
                </a:solidFill>
                <a:latin typeface="Consolas"/>
              </a:rPr>
              <a:t>n</a:t>
            </a:r>
            <a:r>
              <a:rPr sz="1850" b="0">
                <a:solidFill>
                  <a:srgbClr val="000000"/>
                </a:solidFill>
                <a:latin typeface="Arial"/>
              </a:rPr>
              <a:t> necesita </a:t>
            </a:r>
            <a:r>
              <a:rPr sz="1850" b="0">
                <a:solidFill>
                  <a:srgbClr val="000000"/>
                </a:solidFill>
                <a:latin typeface="Consolas"/>
              </a:rPr>
              <a:t>n</a:t>
            </a:r>
            <a:r>
              <a:rPr sz="1850" b="0">
                <a:solidFill>
                  <a:srgbClr val="000000"/>
                </a:solidFill>
                <a:latin typeface="Arial"/>
              </a:rPr>
              <a:t> condiciones iniciales, luego su espacio de estados tiene </a:t>
            </a:r>
            <a:r>
              <a:rPr sz="1850" b="1">
                <a:solidFill>
                  <a:srgbClr val="000000"/>
                </a:solidFill>
                <a:latin typeface="Arial"/>
              </a:rPr>
              <a:t>dimensión n</a:t>
            </a:r>
            <a:r>
              <a:rPr sz="1850" b="0">
                <a:solidFill>
                  <a:srgbClr val="000000"/>
                </a:solidFill>
                <a:latin typeface="Arial"/>
              </a:rPr>
              <a:t>. Orden del sistema, número de integradores y dimensión del espacio son lo mismo.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EL PLANO DE FASE DE UN SISTEMA DE SEGUNDO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43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Arial"/>
              </a:rPr>
              <a:t>Para el masa-resorte-amortiguador, el espacio de estados es un </a:t>
            </a:r>
            <a:r>
              <a:rPr sz="1814" b="1">
                <a:solidFill>
                  <a:srgbClr val="000000"/>
                </a:solidFill>
                <a:latin typeface="Arial"/>
              </a:rPr>
              <a:t>plano</a:t>
            </a:r>
            <a:r>
              <a:rPr sz="1814" b="0">
                <a:solidFill>
                  <a:srgbClr val="000000"/>
                </a:solidFill>
                <a:latin typeface="Arial"/>
              </a:rPr>
              <a:t>: un eje para la posición y otro para la velocidad.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552014"/>
          <a:ext cx="10872216" cy="226812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7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5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32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32" b="1">
                          <a:solidFill>
                            <a:srgbClr val="FFFFFF"/>
                          </a:solidFill>
                          <a:latin typeface="Arial"/>
                        </a:rPr>
                        <a:t>INTERPRETACIÓN GEOMÉTRICA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Un punto (y, 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un estado posible del carro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El origen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el equilibrio: quieto en la referencia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Una curva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la trayectoria que sigue el sistema en el tiempo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Curva que entra al origen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32" b="0">
                          <a:solidFill>
                            <a:srgbClr val="000000"/>
                          </a:solidFill>
                          <a:latin typeface="Arial"/>
                        </a:rPr>
                        <a:t>sistema estable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064734"/>
            <a:ext cx="10872216" cy="5140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14" b="0">
                <a:solidFill>
                  <a:srgbClr val="000000"/>
                </a:solidFill>
                <a:latin typeface="Arial"/>
              </a:rPr>
              <a:t>Ver el sistema como un punto que se mueve por un espacio es lo que permite después </a:t>
            </a:r>
            <a:r>
              <a:rPr sz="1714" b="0" i="1">
                <a:solidFill>
                  <a:srgbClr val="000000"/>
                </a:solidFill>
                <a:latin typeface="Arial"/>
              </a:rPr>
              <a:t>elegir hacia dónde debe moverse</a:t>
            </a:r>
            <a:r>
              <a:rPr sz="1714" b="0">
                <a:solidFill>
                  <a:srgbClr val="000000"/>
                </a:solidFill>
                <a:latin typeface="Arial"/>
              </a:rPr>
              <a:t>: eso es el diseño por ubicación de polos.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DETERMINE LA DIMENSIÓN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Indique la dimensión del espacio de estados de cada sistema y justifique: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733675"/>
          <a:ext cx="10872215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90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5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DIMENSIÓN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Circuito RC serie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Circuito RLC serie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y''' + 4y'' + 5y' + 2y = 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Dos masas acopladas por un resorte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1.2 · ESPACIO DE ESTADOS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4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1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SISTEMA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DIM.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RAZÓN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RC serie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un solo almacenador: el capacitor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RLC serie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capacitor e inductor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y''' + 4y'' + 5y' + 2y = 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ecuación de tercer orden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Consolas"/>
                        </a:rPr>
                        <a:t>Dos masas acopladas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dos posiciones y dos velocidades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regla práctica: cuente los elementos que </a:t>
            </a:r>
            <a:r>
              <a:rPr sz="1850" b="1">
                <a:solidFill>
                  <a:srgbClr val="000000"/>
                </a:solidFill>
                <a:latin typeface="Arial"/>
              </a:rPr>
              <a:t>almacenan energía</a:t>
            </a:r>
            <a:r>
              <a:rPr sz="1850" b="0">
                <a:solidFill>
                  <a:srgbClr val="000000"/>
                </a:solidFill>
                <a:latin typeface="Arial"/>
              </a:rPr>
              <a:t>, o equivalentemente el orden de la ecuación diferencial.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LAS VARIABLES QUE GUARDAN LA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Una </a:t>
            </a:r>
            <a:r>
              <a:rPr sz="1950" b="1">
                <a:solidFill>
                  <a:srgbClr val="000000"/>
                </a:solidFill>
                <a:latin typeface="Arial"/>
              </a:rPr>
              <a:t>variable de estado</a:t>
            </a:r>
            <a:r>
              <a:rPr sz="1950" b="0">
                <a:solidFill>
                  <a:srgbClr val="000000"/>
                </a:solidFill>
                <a:latin typeface="Arial"/>
              </a:rPr>
              <a:t> es cada una de las variables del conjunto mínimo que define el estado. En un sistema físico corresponden casi siempre a los elementos que </a:t>
            </a:r>
            <a:r>
              <a:rPr sz="1950" b="1">
                <a:solidFill>
                  <a:srgbClr val="000000"/>
                </a:solidFill>
                <a:latin typeface="Arial"/>
              </a:rPr>
              <a:t>almacenan energía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14422"/>
          <a:ext cx="10872215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7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ENERGÍA QUE ALMACENA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VARIABLE DE ESTADO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Masa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cinética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velocidad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Resorte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potencial elástica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deformación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Inductor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campo magnético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corriente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Capacitor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campo eléctrico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voltaje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No tienen por qué ser magnitudes medibles ni tener sentido físico: son una elección </a:t>
            </a:r>
            <a:r>
              <a:rPr sz="1850" b="1">
                <a:solidFill>
                  <a:srgbClr val="000000"/>
                </a:solidFill>
                <a:latin typeface="Arial"/>
              </a:rPr>
              <a:t>matemática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rial"/>
              </a:rPr>
              <a:t>CADA ALMACENADOR APORTA UNA ECUACIÓN DE PRIMER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5747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60" b="0">
                <a:solidFill>
                  <a:srgbClr val="000000"/>
                </a:solidFill>
                <a:latin typeface="Arial"/>
              </a:rPr>
              <a:t>La razón es que la ley constitutiva de un almacenador relaciona una derivada con el resto de variables: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72816"/>
            <a:ext cx="10872216" cy="2284399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72816"/>
            <a:ext cx="54864" cy="2284399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679801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4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e836200d8955ce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19" y="3019958"/>
            <a:ext cx="2283714" cy="397078"/>
          </a:xfrm>
          <a:prstGeom prst="rect">
            <a:avLst/>
          </a:prstGeom>
        </p:spPr>
      </p:pic>
      <p:pic>
        <p:nvPicPr>
          <p:cNvPr id="13" name="Picture 12" descr="f_9a80c893403a63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02" y="3565169"/>
            <a:ext cx="2542946" cy="423824"/>
          </a:xfrm>
          <a:prstGeom prst="rect">
            <a:avLst/>
          </a:prstGeom>
        </p:spPr>
      </p:pic>
      <p:pic>
        <p:nvPicPr>
          <p:cNvPr id="14" name="Picture 13" descr="f_50f991be83d860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795" y="4137126"/>
            <a:ext cx="2199360" cy="3991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44846"/>
            <a:ext cx="10872216" cy="5275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60" b="0">
                <a:solidFill>
                  <a:srgbClr val="000000"/>
                </a:solidFill>
                <a:latin typeface="Consolas"/>
              </a:rPr>
              <a:t>n</a:t>
            </a:r>
            <a:r>
              <a:rPr sz="1760" b="0">
                <a:solidFill>
                  <a:srgbClr val="000000"/>
                </a:solidFill>
                <a:latin typeface="Arial"/>
              </a:rPr>
              <a:t> almacenadores producen </a:t>
            </a:r>
            <a:r>
              <a:rPr sz="1760" b="0">
                <a:solidFill>
                  <a:srgbClr val="000000"/>
                </a:solidFill>
                <a:latin typeface="Consolas"/>
              </a:rPr>
              <a:t>n</a:t>
            </a:r>
            <a:r>
              <a:rPr sz="1760" b="0">
                <a:solidFill>
                  <a:srgbClr val="000000"/>
                </a:solidFill>
                <a:latin typeface="Arial"/>
              </a:rPr>
              <a:t> ecuaciones de primer orden acopladas, que es exactamente la forma </a:t>
            </a:r>
            <a:r>
              <a:rPr sz="1760" b="0">
                <a:solidFill>
                  <a:srgbClr val="000000"/>
                </a:solidFill>
                <a:latin typeface="Consolas"/>
              </a:rPr>
              <a:t>ẋ = f(x, u)</a:t>
            </a:r>
            <a:r>
              <a:rPr sz="176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VARIABLES DE ESTADO DE UN CIRCUITO RLC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43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Arial"/>
              </a:rPr>
              <a:t>Circuito RLC serie con </a:t>
            </a:r>
            <a:r>
              <a:rPr sz="1814" b="0">
                <a:solidFill>
                  <a:srgbClr val="000000"/>
                </a:solidFill>
                <a:latin typeface="Consolas"/>
              </a:rPr>
              <a:t>L = 1 H</a:t>
            </a:r>
            <a:r>
              <a:rPr sz="1814" b="0">
                <a:solidFill>
                  <a:srgbClr val="000000"/>
                </a:solidFill>
                <a:latin typeface="Arial"/>
              </a:rPr>
              <a:t>, </a:t>
            </a:r>
            <a:r>
              <a:rPr sz="1814" b="0">
                <a:solidFill>
                  <a:srgbClr val="000000"/>
                </a:solidFill>
                <a:latin typeface="Consolas"/>
              </a:rPr>
              <a:t>R = 3 Ω</a:t>
            </a:r>
            <a:r>
              <a:rPr sz="1814" b="0">
                <a:solidFill>
                  <a:srgbClr val="000000"/>
                </a:solidFill>
                <a:latin typeface="Arial"/>
              </a:rPr>
              <a:t>, </a:t>
            </a:r>
            <a:r>
              <a:rPr sz="1814" b="0">
                <a:solidFill>
                  <a:srgbClr val="000000"/>
                </a:solidFill>
                <a:latin typeface="Consolas"/>
              </a:rPr>
              <a:t>C = 0,5 F</a:t>
            </a:r>
            <a:r>
              <a:rPr sz="1814" b="0">
                <a:solidFill>
                  <a:srgbClr val="000000"/>
                </a:solidFill>
                <a:latin typeface="Arial"/>
              </a:rPr>
              <a:t> y fuente </a:t>
            </a:r>
            <a:r>
              <a:rPr sz="1814" b="0">
                <a:solidFill>
                  <a:srgbClr val="000000"/>
                </a:solidFill>
                <a:latin typeface="Consolas"/>
              </a:rPr>
              <a:t>e(t)</a:t>
            </a:r>
            <a:r>
              <a:rPr sz="1814" b="0">
                <a:solidFill>
                  <a:srgbClr val="000000"/>
                </a:solidFill>
                <a:latin typeface="Arial"/>
              </a:rPr>
              <a:t>. Se eligen la corriente del inductor y el voltaje del capacitor: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52014"/>
            <a:ext cx="10872216" cy="2464193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52014"/>
            <a:ext cx="54864" cy="2464193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653055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6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57b94c662501e9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891" y="2989554"/>
            <a:ext cx="4331169" cy="376961"/>
          </a:xfrm>
          <a:prstGeom prst="rect">
            <a:avLst/>
          </a:prstGeom>
        </p:spPr>
      </p:pic>
      <p:pic>
        <p:nvPicPr>
          <p:cNvPr id="13" name="Picture 12" descr="f_f970d79c339086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083" y="3506419"/>
            <a:ext cx="2158784" cy="400278"/>
          </a:xfrm>
          <a:prstGeom prst="rect">
            <a:avLst/>
          </a:prstGeom>
        </p:spPr>
      </p:pic>
      <p:pic>
        <p:nvPicPr>
          <p:cNvPr id="14" name="Picture 13" descr="f_2f6fcdb222eafb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264" y="4046601"/>
            <a:ext cx="1556423" cy="6664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321744"/>
            <a:ext cx="10872216" cy="25700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14" b="0">
                <a:solidFill>
                  <a:srgbClr val="000000"/>
                </a:solidFill>
                <a:latin typeface="Arial"/>
              </a:rPr>
              <a:t>Los autovalores de </a:t>
            </a:r>
            <a:r>
              <a:rPr sz="1714" b="0">
                <a:solidFill>
                  <a:srgbClr val="000000"/>
                </a:solidFill>
                <a:latin typeface="Consolas"/>
              </a:rPr>
              <a:t>A</a:t>
            </a:r>
            <a:r>
              <a:rPr sz="1714" b="0">
                <a:solidFill>
                  <a:srgbClr val="000000"/>
                </a:solidFill>
                <a:latin typeface="Arial"/>
              </a:rPr>
              <a:t> son −1 y −2: la elección de variables no cambia la dinámica, solo la forma de escribirla.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IDENTIFIQUE LAS VARIABLES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Un carro de masa </a:t>
            </a:r>
            <a:r>
              <a:rPr sz="1950" b="0">
                <a:solidFill>
                  <a:srgbClr val="000000"/>
                </a:solidFill>
                <a:latin typeface="Consolas"/>
              </a:rPr>
              <a:t>m</a:t>
            </a:r>
            <a:r>
              <a:rPr sz="1950" b="0">
                <a:solidFill>
                  <a:srgbClr val="000000"/>
                </a:solidFill>
                <a:latin typeface="Arial"/>
              </a:rPr>
              <a:t> está unido a la pared por un resorte </a:t>
            </a:r>
            <a:r>
              <a:rPr sz="1950" b="0">
                <a:solidFill>
                  <a:srgbClr val="000000"/>
                </a:solidFill>
                <a:latin typeface="Consolas"/>
              </a:rPr>
              <a:t>k</a:t>
            </a:r>
            <a:r>
              <a:rPr sz="1950" b="0">
                <a:solidFill>
                  <a:srgbClr val="000000"/>
                </a:solidFill>
                <a:latin typeface="Arial"/>
              </a:rPr>
              <a:t> y un amortiguador </a:t>
            </a:r>
            <a:r>
              <a:rPr sz="1950" b="0">
                <a:solidFill>
                  <a:srgbClr val="000000"/>
                </a:solidFill>
                <a:latin typeface="Consolas"/>
              </a:rPr>
              <a:t>b</a:t>
            </a:r>
            <a:r>
              <a:rPr sz="1950" b="0">
                <a:solidFill>
                  <a:srgbClr val="000000"/>
                </a:solidFill>
                <a:latin typeface="Arial"/>
              </a:rPr>
              <a:t>, y recibe una fuerza </a:t>
            </a:r>
            <a:r>
              <a:rPr sz="1950" b="0">
                <a:solidFill>
                  <a:srgbClr val="000000"/>
                </a:solidFill>
                <a:latin typeface="Consolas"/>
              </a:rPr>
              <a:t>u(t)</a:t>
            </a:r>
            <a:r>
              <a:rPr sz="19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25902"/>
            <a:ext cx="10872216" cy="876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¿Cuántos elementos almacenan energía?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b) ¿Qué variables de estado propondría?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c) ¿Sería válido elegir la posición y la aceleración? Justifique.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1.3 · VARIABLE DE ESTADO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6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7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PREGUNTA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RESPUESTA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a) Almacenadores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dos: la masa y el resorte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b) Variables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posición y velocidad del carro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c) ¿Posición y aceleración?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no: la aceleración se despeja de las otras 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aceleración </a:t>
            </a:r>
            <a:r>
              <a:rPr sz="1850" b="1">
                <a:solidFill>
                  <a:srgbClr val="000000"/>
                </a:solidFill>
                <a:latin typeface="Arial"/>
              </a:rPr>
              <a:t>no es independiente</a:t>
            </a:r>
            <a:r>
              <a:rPr sz="1850" b="0">
                <a:solidFill>
                  <a:srgbClr val="000000"/>
                </a:solidFill>
                <a:latin typeface="Arial"/>
              </a:rPr>
              <a:t>: </a:t>
            </a:r>
            <a:r>
              <a:rPr sz="1850" b="0">
                <a:solidFill>
                  <a:srgbClr val="000000"/>
                </a:solidFill>
                <a:latin typeface="Consolas"/>
              </a:rPr>
              <a:t>ÿ = (u − bẏ − ky)/m</a:t>
            </a:r>
            <a:r>
              <a:rPr sz="1850" b="0">
                <a:solidFill>
                  <a:srgbClr val="000000"/>
                </a:solidFill>
                <a:latin typeface="Arial"/>
              </a:rPr>
              <a:t>. Incluirla rompería la condición de </a:t>
            </a:r>
            <a:r>
              <a:rPr sz="1850" b="0" i="1">
                <a:solidFill>
                  <a:srgbClr val="000000"/>
                </a:solidFill>
                <a:latin typeface="Arial"/>
              </a:rPr>
              <a:t>conjunto mínimo</a:t>
            </a:r>
            <a:r>
              <a:rPr sz="1850" b="0">
                <a:solidFill>
                  <a:srgbClr val="000000"/>
                </a:solidFill>
                <a:latin typeface="Arial"/>
              </a:rPr>
              <a:t> de la definición de estado.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LOS VECTORES DEL 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72383"/>
            <a:ext cx="10872216" cy="142646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2.1  ¿Qué es un vector de estados?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2.2  ¿Qué es un vector de entradas?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2.3  ¿Qué es un vector de salidas?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LAS N VARIABLES EN UNA SOLA COLUMNA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43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Arial"/>
              </a:rPr>
              <a:t>El </a:t>
            </a:r>
            <a:r>
              <a:rPr sz="1814" b="1">
                <a:solidFill>
                  <a:srgbClr val="000000"/>
                </a:solidFill>
                <a:latin typeface="Arial"/>
              </a:rPr>
              <a:t>vector de estados</a:t>
            </a:r>
            <a:r>
              <a:rPr sz="1814" b="0">
                <a:solidFill>
                  <a:srgbClr val="000000"/>
                </a:solidFill>
                <a:latin typeface="Arial"/>
              </a:rPr>
              <a:t> apila las </a:t>
            </a:r>
            <a:r>
              <a:rPr sz="1814" b="0">
                <a:solidFill>
                  <a:srgbClr val="000000"/>
                </a:solidFill>
                <a:latin typeface="Consolas"/>
              </a:rPr>
              <a:t>n</a:t>
            </a:r>
            <a:r>
              <a:rPr sz="1814" b="0">
                <a:solidFill>
                  <a:srgbClr val="000000"/>
                </a:solidFill>
                <a:latin typeface="Arial"/>
              </a:rPr>
              <a:t> variables de estado en una matriz columna, para poder escribir todo el sistema con una sola ecuación: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52014"/>
            <a:ext cx="10872216" cy="1863432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52014"/>
            <a:ext cx="54864" cy="1863432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_fc71cd4563d747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83" y="2785186"/>
            <a:ext cx="3312985" cy="13970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570895"/>
            <a:ext cx="10872216" cy="543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14" b="0">
                <a:solidFill>
                  <a:srgbClr val="000000"/>
                </a:solidFill>
                <a:latin typeface="Consolas"/>
              </a:rPr>
              <a:t>A</a:t>
            </a:r>
            <a:r>
              <a:rPr sz="1814" b="0">
                <a:solidFill>
                  <a:srgbClr val="000000"/>
                </a:solidFill>
                <a:latin typeface="Arial"/>
              </a:rPr>
              <a:t> es de orden </a:t>
            </a:r>
            <a:r>
              <a:rPr sz="1814" b="0">
                <a:solidFill>
                  <a:srgbClr val="000000"/>
                </a:solidFill>
                <a:latin typeface="Consolas"/>
              </a:rPr>
              <a:t>n×n</a:t>
            </a:r>
            <a:r>
              <a:rPr sz="1814" b="0">
                <a:solidFill>
                  <a:srgbClr val="000000"/>
                </a:solidFill>
                <a:latin typeface="Arial"/>
              </a:rPr>
              <a:t> y se llama </a:t>
            </a:r>
            <a:r>
              <a:rPr sz="1814" b="1">
                <a:solidFill>
                  <a:srgbClr val="000000"/>
                </a:solidFill>
                <a:latin typeface="Arial"/>
              </a:rPr>
              <a:t>matriz de estado</a:t>
            </a:r>
            <a:r>
              <a:rPr sz="1814" b="0">
                <a:solidFill>
                  <a:srgbClr val="000000"/>
                </a:solidFill>
                <a:latin typeface="Arial"/>
              </a:rPr>
              <a:t>: contiene toda la dinámica propia del sistema, la que ocurre sin entrada.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21744"/>
            <a:ext cx="10872216" cy="25700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714" b="0">
                <a:solidFill>
                  <a:srgbClr val="000000"/>
                </a:solidFill>
                <a:latin typeface="Arial"/>
              </a:rPr>
              <a:t>Los autovalores de </a:t>
            </a:r>
            <a:r>
              <a:rPr sz="1714" b="0">
                <a:solidFill>
                  <a:srgbClr val="000000"/>
                </a:solidFill>
                <a:latin typeface="Consolas"/>
              </a:rPr>
              <a:t>A</a:t>
            </a:r>
            <a:r>
              <a:rPr sz="1714" b="0">
                <a:solidFill>
                  <a:srgbClr val="000000"/>
                </a:solidFill>
                <a:latin typeface="Arial"/>
              </a:rPr>
              <a:t> son los polos del sistema.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DE UNA ECUACIÓN DE ORDEN N A N DE PRIMER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Se toma como estado la salida y sus derivadas sucesivas: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86996"/>
            <a:ext cx="10872216" cy="201853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86996"/>
            <a:ext cx="54864" cy="201853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705868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d5c48962569f6a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646" y="3053340"/>
            <a:ext cx="1851660" cy="297180"/>
          </a:xfrm>
          <a:prstGeom prst="rect">
            <a:avLst/>
          </a:prstGeom>
        </p:spPr>
      </p:pic>
      <p:pic>
        <p:nvPicPr>
          <p:cNvPr id="13" name="Picture 12" descr="f_8a15e1c512e647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991" y="3515112"/>
            <a:ext cx="902970" cy="272034"/>
          </a:xfrm>
          <a:prstGeom prst="rect">
            <a:avLst/>
          </a:prstGeom>
        </p:spPr>
      </p:pic>
      <p:pic>
        <p:nvPicPr>
          <p:cNvPr id="14" name="Picture 13" descr="f_0735e81ea201c0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122" y="3951738"/>
            <a:ext cx="3378708" cy="2971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Cada derivada nueva se convierte en una variable nueva. El resultado es la </a:t>
            </a:r>
            <a:r>
              <a:rPr sz="1850" b="1">
                <a:solidFill>
                  <a:srgbClr val="000000"/>
                </a:solidFill>
                <a:latin typeface="Arial"/>
              </a:rPr>
              <a:t>forma canónica controlable</a:t>
            </a:r>
            <a:r>
              <a:rPr sz="1850" b="0">
                <a:solidFill>
                  <a:srgbClr val="000000"/>
                </a:solidFill>
                <a:latin typeface="Arial"/>
              </a:rPr>
              <a:t>, la realización más directa.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FORMA CANÓNICA DE UN SISTEMA DE SEGUNDO ORDEN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</a:t>
            </a:r>
            <a:r>
              <a:rPr sz="1950" b="0">
                <a:solidFill>
                  <a:srgbClr val="000000"/>
                </a:solidFill>
                <a:latin typeface="Consolas"/>
              </a:rPr>
              <a:t>ÿ + 3ẏ + 2y = u</a:t>
            </a:r>
            <a:r>
              <a:rPr sz="1950" b="0">
                <a:solidFill>
                  <a:srgbClr val="000000"/>
                </a:solidFill>
                <a:latin typeface="Arial"/>
              </a:rPr>
              <a:t>, con </a:t>
            </a:r>
            <a:r>
              <a:rPr sz="1950" b="0">
                <a:solidFill>
                  <a:srgbClr val="000000"/>
                </a:solidFill>
                <a:latin typeface="Consolas"/>
              </a:rPr>
              <a:t>x₁ = y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x₂ = ẏ</a:t>
            </a:r>
            <a:r>
              <a:rPr sz="195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33675"/>
            <a:ext cx="10872216" cy="160705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33675"/>
            <a:ext cx="54864" cy="160705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52547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a876cf64155790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3200019"/>
            <a:ext cx="3108960" cy="784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última fila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A</a:t>
            </a:r>
            <a:r>
              <a:rPr sz="1850" b="0">
                <a:solidFill>
                  <a:srgbClr val="000000"/>
                </a:solidFill>
                <a:latin typeface="Arial"/>
              </a:rPr>
              <a:t> son los coeficientes de la ecuación </a:t>
            </a:r>
            <a:r>
              <a:rPr sz="1850" b="1">
                <a:solidFill>
                  <a:srgbClr val="000000"/>
                </a:solidFill>
                <a:latin typeface="Arial"/>
              </a:rPr>
              <a:t>cambiados de signo y en orden inverso</a:t>
            </a:r>
            <a:r>
              <a:rPr sz="1850" b="0">
                <a:solidFill>
                  <a:srgbClr val="000000"/>
                </a:solidFill>
                <a:latin typeface="Arial"/>
              </a:rPr>
              <a:t>; el resto es una identidad desplazada. Se escribe leyendo la ecuación, sin hacer cuentas.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ESCRIBA LA ECUACIÓN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el sistema de tercer orden</a:t>
            </a:r>
          </a:p>
        </p:txBody>
      </p:sp>
      <p:pic>
        <p:nvPicPr>
          <p:cNvPr id="9" name="Picture 8" descr="f_5ef0abd14f4d58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788539"/>
            <a:ext cx="2633472" cy="3063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744087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defina las variables de estado, escriba las matrices </a:t>
            </a:r>
            <a:r>
              <a:rPr sz="1950" b="0">
                <a:solidFill>
                  <a:srgbClr val="000000"/>
                </a:solidFill>
                <a:latin typeface="Consolas"/>
              </a:rPr>
              <a:t>A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B</a:t>
            </a:r>
            <a:r>
              <a:rPr sz="1950" b="0">
                <a:solidFill>
                  <a:srgbClr val="000000"/>
                </a:solidFill>
                <a:latin typeface="Arial"/>
              </a:rPr>
              <a:t> en forma canónica controlable e indique el orden de cada una.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2.1 · VECTOR DE ESTADOS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41173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41173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df9812c0f46a84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6" y="2350008"/>
            <a:ext cx="2926080" cy="297180"/>
          </a:xfrm>
          <a:prstGeom prst="rect">
            <a:avLst/>
          </a:prstGeom>
        </p:spPr>
      </p:pic>
      <p:pic>
        <p:nvPicPr>
          <p:cNvPr id="12" name="Picture 11" descr="f_a3d6f5edc3477d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661" y="2811779"/>
            <a:ext cx="3897630" cy="11269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Consolas"/>
              </a:rPr>
              <a:t>A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3x3</a:t>
            </a:r>
            <a:r>
              <a:rPr sz="1850" b="0">
                <a:solidFill>
                  <a:srgbClr val="000000"/>
                </a:solidFill>
                <a:latin typeface="Arial"/>
              </a:rPr>
              <a:t> y </a:t>
            </a:r>
            <a:r>
              <a:rPr sz="1850" b="0">
                <a:solidFill>
                  <a:srgbClr val="000000"/>
                </a:solidFill>
                <a:latin typeface="Consolas"/>
              </a:rPr>
              <a:t>B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0">
                <a:solidFill>
                  <a:srgbClr val="000000"/>
                </a:solidFill>
                <a:latin typeface="Consolas"/>
              </a:rPr>
              <a:t>3x1</a:t>
            </a:r>
            <a:r>
              <a:rPr sz="1850" b="0">
                <a:solidFill>
                  <a:srgbClr val="000000"/>
                </a:solidFill>
                <a:latin typeface="Arial"/>
              </a:rPr>
              <a:t>. Los autovalores son </a:t>
            </a:r>
            <a:r>
              <a:rPr sz="1850" b="1">
                <a:solidFill>
                  <a:srgbClr val="000000"/>
                </a:solidFill>
                <a:latin typeface="Arial"/>
              </a:rPr>
              <a:t>−1, −1 y −2</a:t>
            </a:r>
            <a:r>
              <a:rPr sz="1850" b="0">
                <a:solidFill>
                  <a:srgbClr val="000000"/>
                </a:solidFill>
                <a:latin typeface="Arial"/>
              </a:rPr>
              <a:t>, las raíces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s³ + 4s² + 5s + 2 = (s+1)²(s+2)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TODO LO QUE ACTÚA SOBRE 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</a:t>
            </a:r>
            <a:r>
              <a:rPr sz="1950" b="1">
                <a:solidFill>
                  <a:srgbClr val="000000"/>
                </a:solidFill>
                <a:latin typeface="Arial"/>
              </a:rPr>
              <a:t>vector de entradas</a:t>
            </a:r>
            <a:r>
              <a:rPr sz="1950" b="0">
                <a:solidFill>
                  <a:srgbClr val="000000"/>
                </a:solidFill>
                <a:latin typeface="Arial"/>
              </a:rPr>
              <a:t> </a:t>
            </a:r>
            <a:r>
              <a:rPr sz="1950" b="0">
                <a:solidFill>
                  <a:srgbClr val="000000"/>
                </a:solidFill>
                <a:latin typeface="Consolas"/>
              </a:rPr>
              <a:t>u(t)</a:t>
            </a:r>
            <a:r>
              <a:rPr sz="1950" b="0">
                <a:solidFill>
                  <a:srgbClr val="000000"/>
                </a:solidFill>
                <a:latin typeface="Arial"/>
              </a:rPr>
              <a:t> reúne las </a:t>
            </a:r>
            <a:r>
              <a:rPr sz="1950" b="0">
                <a:solidFill>
                  <a:srgbClr val="000000"/>
                </a:solidFill>
                <a:latin typeface="Consolas"/>
              </a:rPr>
              <a:t>m</a:t>
            </a:r>
            <a:r>
              <a:rPr sz="1950" b="0">
                <a:solidFill>
                  <a:srgbClr val="000000"/>
                </a:solidFill>
                <a:latin typeface="Arial"/>
              </a:rPr>
              <a:t> señales que actúan sobre la planta: las de control y, si se modelan, también las perturbaciones.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68361"/>
            <a:ext cx="10872216" cy="84582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868361"/>
            <a:ext cx="54864" cy="84582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_ac6dda9060fef7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142681"/>
            <a:ext cx="3913632" cy="2971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151001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 matriz </a:t>
            </a:r>
            <a:r>
              <a:rPr sz="1950" b="0">
                <a:solidFill>
                  <a:srgbClr val="000000"/>
                </a:solidFill>
                <a:latin typeface="Consolas"/>
              </a:rPr>
              <a:t>B</a:t>
            </a:r>
            <a:r>
              <a:rPr sz="1950" b="0">
                <a:solidFill>
                  <a:srgbClr val="000000"/>
                </a:solidFill>
                <a:latin typeface="Arial"/>
              </a:rPr>
              <a:t> es el </a:t>
            </a:r>
            <a:r>
              <a:rPr sz="1950" b="1">
                <a:solidFill>
                  <a:srgbClr val="000000"/>
                </a:solidFill>
                <a:latin typeface="Arial"/>
              </a:rPr>
              <a:t>repartidor</a:t>
            </a:r>
            <a:r>
              <a:rPr sz="1950" b="0">
                <a:solidFill>
                  <a:srgbClr val="000000"/>
                </a:solidFill>
                <a:latin typeface="Arial"/>
              </a:rPr>
              <a:t>: dice sobre qué estados actúa cada entrada y con qué peso.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Un sistema con más de una entrada ya no cabe en una sola función de transferencia: haría falta una matriz de transferencia.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QUÉ SIGNIFICA CADA COLUMNA DE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Separando la contribución de cada entrada por linealidad: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31585"/>
            <a:ext cx="10872216" cy="175564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31585"/>
            <a:ext cx="54864" cy="175564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50457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ef5c06a340cc1d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298" y="3197929"/>
            <a:ext cx="2848356" cy="486918"/>
          </a:xfrm>
          <a:prstGeom prst="rect">
            <a:avLst/>
          </a:prstGeom>
        </p:spPr>
      </p:pic>
      <p:pic>
        <p:nvPicPr>
          <p:cNvPr id="13" name="Picture 12" descr="f_78a2812d093ef2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514" y="3849439"/>
            <a:ext cx="3963924" cy="2811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</a:t>
            </a:r>
            <a:r>
              <a:rPr sz="1850" b="1">
                <a:solidFill>
                  <a:srgbClr val="000000"/>
                </a:solidFill>
                <a:latin typeface="Arial"/>
              </a:rPr>
              <a:t>columna j de B</a:t>
            </a:r>
            <a:r>
              <a:rPr sz="1850" b="0">
                <a:solidFill>
                  <a:srgbClr val="000000"/>
                </a:solidFill>
                <a:latin typeface="Arial"/>
              </a:rPr>
              <a:t> es la dirección del espacio de estados hacia la que empuja la entrada </a:t>
            </a:r>
            <a:r>
              <a:rPr sz="1850" b="0">
                <a:solidFill>
                  <a:srgbClr val="000000"/>
                </a:solidFill>
                <a:latin typeface="Consolas"/>
              </a:rPr>
              <a:t>j</a:t>
            </a:r>
            <a:r>
              <a:rPr sz="1850" b="0">
                <a:solidFill>
                  <a:srgbClr val="000000"/>
                </a:solidFill>
                <a:latin typeface="Arial"/>
              </a:rPr>
              <a:t>. Si una fila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B</a:t>
            </a:r>
            <a:r>
              <a:rPr sz="1850" b="0">
                <a:solidFill>
                  <a:srgbClr val="000000"/>
                </a:solidFill>
                <a:latin typeface="Arial"/>
              </a:rPr>
              <a:t> es toda nula, ninguna entrada llega directamente a ese estado.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FUERZA DE CONTROL Y PERTURBACIÓN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carro recibe la fuerza del actuador </a:t>
            </a:r>
            <a:r>
              <a:rPr sz="1950" b="0">
                <a:solidFill>
                  <a:srgbClr val="000000"/>
                </a:solidFill>
                <a:latin typeface="Consolas"/>
              </a:rPr>
              <a:t>u₁</a:t>
            </a:r>
            <a:r>
              <a:rPr sz="1950" b="0">
                <a:solidFill>
                  <a:srgbClr val="000000"/>
                </a:solidFill>
                <a:latin typeface="Arial"/>
              </a:rPr>
              <a:t> y una fuerza de rozamiento externa </a:t>
            </a:r>
            <a:r>
              <a:rPr sz="1950" b="0">
                <a:solidFill>
                  <a:srgbClr val="000000"/>
                </a:solidFill>
                <a:latin typeface="Consolas"/>
              </a:rPr>
              <a:t>u₂</a:t>
            </a:r>
            <a:r>
              <a:rPr sz="1950" b="0">
                <a:solidFill>
                  <a:srgbClr val="000000"/>
                </a:solidFill>
                <a:latin typeface="Arial"/>
              </a:rPr>
              <a:t> que se opone al movimiento: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44812"/>
            <a:ext cx="10872216" cy="160705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944812"/>
            <a:ext cx="54864" cy="160705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063684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f5caa2ab47b4d3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073" y="3411156"/>
            <a:ext cx="4162806" cy="784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Ambas entradas actúan sobre la velocidad y ninguna sobre la posición: la primera fila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B</a:t>
            </a:r>
            <a:r>
              <a:rPr sz="1850" b="0">
                <a:solidFill>
                  <a:srgbClr val="000000"/>
                </a:solidFill>
                <a:latin typeface="Arial"/>
              </a:rPr>
              <a:t> es nula porque </a:t>
            </a:r>
            <a:r>
              <a:rPr sz="1850" b="1">
                <a:solidFill>
                  <a:srgbClr val="000000"/>
                </a:solidFill>
                <a:latin typeface="Arial"/>
              </a:rPr>
              <a:t>la fuerza no cambia la posición de forma instantánea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INTERPRETE LA MATRIZ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Un sistema de tres estados tiene</a:t>
            </a:r>
          </a:p>
        </p:txBody>
      </p:sp>
      <p:pic>
        <p:nvPicPr>
          <p:cNvPr id="9" name="Picture 8" descr="f_696c75f0aa4e21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30" y="2631452"/>
            <a:ext cx="1421892" cy="1124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48302"/>
            <a:ext cx="10872216" cy="876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¿Cuántas entradas tiene?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b) ¿Sobre qué estados actúa cada una?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c) ¿Qué le ocurre al estado </a:t>
            </a:r>
            <a:r>
              <a:rPr sz="1950" b="0">
                <a:solidFill>
                  <a:srgbClr val="000000"/>
                </a:solidFill>
                <a:latin typeface="Consolas"/>
              </a:rPr>
              <a:t>x₂</a:t>
            </a:r>
            <a:r>
              <a:rPr sz="1950" b="0">
                <a:solidFill>
                  <a:srgbClr val="000000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2.2 · VECTOR DE ENTRADAS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5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4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4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PREGUNTA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RESPUESTA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a) Entradas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dos: B es 3×2, luego m =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b) Acción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u₁ sobre x₁; u₂ sobre x₃ con peso 2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c) Estado x₂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su fila es nula: ninguna entrada lo alcanza directamente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Que </a:t>
            </a:r>
            <a:r>
              <a:rPr sz="1850" b="0">
                <a:solidFill>
                  <a:srgbClr val="000000"/>
                </a:solidFill>
                <a:latin typeface="Consolas"/>
              </a:rPr>
              <a:t>x₂</a:t>
            </a:r>
            <a:r>
              <a:rPr sz="1850" b="0">
                <a:solidFill>
                  <a:srgbClr val="000000"/>
                </a:solidFill>
                <a:latin typeface="Arial"/>
              </a:rPr>
              <a:t> no reciba entrada </a:t>
            </a:r>
            <a:r>
              <a:rPr sz="1850" b="1">
                <a:solidFill>
                  <a:srgbClr val="000000"/>
                </a:solidFill>
                <a:latin typeface="Arial"/>
              </a:rPr>
              <a:t>directa</a:t>
            </a:r>
            <a:r>
              <a:rPr sz="1850" b="0">
                <a:solidFill>
                  <a:srgbClr val="000000"/>
                </a:solidFill>
                <a:latin typeface="Arial"/>
              </a:rPr>
              <a:t> no lo hace incontrolable: puede alcanzarse a través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A</a:t>
            </a:r>
            <a:r>
              <a:rPr sz="1850" b="0">
                <a:solidFill>
                  <a:srgbClr val="000000"/>
                </a:solidFill>
                <a:latin typeface="Arial"/>
              </a:rPr>
              <a:t>, si los estados están acoplados. Eso es lo que decidirá la matriz de controlabilidad.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LO QUE EL SENSOR ALCANZA A 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</a:t>
            </a:r>
            <a:r>
              <a:rPr sz="1950" b="1">
                <a:solidFill>
                  <a:srgbClr val="000000"/>
                </a:solidFill>
                <a:latin typeface="Arial"/>
              </a:rPr>
              <a:t>vector de salidas</a:t>
            </a:r>
            <a:r>
              <a:rPr sz="1950" b="0">
                <a:solidFill>
                  <a:srgbClr val="000000"/>
                </a:solidFill>
                <a:latin typeface="Arial"/>
              </a:rPr>
              <a:t> </a:t>
            </a:r>
            <a:r>
              <a:rPr sz="1950" b="0">
                <a:solidFill>
                  <a:srgbClr val="000000"/>
                </a:solidFill>
                <a:latin typeface="Consolas"/>
              </a:rPr>
              <a:t>y(t)</a:t>
            </a:r>
            <a:r>
              <a:rPr sz="1950" b="0">
                <a:solidFill>
                  <a:srgbClr val="000000"/>
                </a:solidFill>
                <a:latin typeface="Arial"/>
              </a:rPr>
              <a:t> reúne las </a:t>
            </a:r>
            <a:r>
              <a:rPr sz="1950" b="0">
                <a:solidFill>
                  <a:srgbClr val="000000"/>
                </a:solidFill>
                <a:latin typeface="Consolas"/>
              </a:rPr>
              <a:t>p</a:t>
            </a:r>
            <a:r>
              <a:rPr sz="1950" b="0">
                <a:solidFill>
                  <a:srgbClr val="000000"/>
                </a:solidFill>
                <a:latin typeface="Arial"/>
              </a:rPr>
              <a:t> señales que realmente se miden. Se obtiene combinando estados y, eventualmente, entradas: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87370"/>
            <a:ext cx="10872216" cy="848106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87370"/>
            <a:ext cx="54864" cy="848106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_c4c1e878eca3e5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946" y="3061690"/>
            <a:ext cx="1623060" cy="2994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3991305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Consolas"/>
              </a:rPr>
              <a:t>C</a:t>
            </a:r>
            <a:r>
              <a:rPr sz="1950" b="0">
                <a:solidFill>
                  <a:srgbClr val="000000"/>
                </a:solidFill>
                <a:latin typeface="Arial"/>
              </a:rPr>
              <a:t> es de orden </a:t>
            </a:r>
            <a:r>
              <a:rPr sz="1950" b="0">
                <a:solidFill>
                  <a:srgbClr val="000000"/>
                </a:solidFill>
                <a:latin typeface="Consolas"/>
              </a:rPr>
              <a:t>p×n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1">
                <a:solidFill>
                  <a:srgbClr val="000000"/>
                </a:solidFill>
                <a:latin typeface="Arial"/>
              </a:rPr>
              <a:t>selecciona o combina</a:t>
            </a:r>
            <a:r>
              <a:rPr sz="1950" b="0">
                <a:solidFill>
                  <a:srgbClr val="000000"/>
                </a:solidFill>
                <a:latin typeface="Arial"/>
              </a:rPr>
              <a:t> estados; </a:t>
            </a:r>
            <a:r>
              <a:rPr sz="1950" b="0">
                <a:solidFill>
                  <a:srgbClr val="000000"/>
                </a:solidFill>
                <a:latin typeface="Consolas"/>
              </a:rPr>
              <a:t>D</a:t>
            </a:r>
            <a:r>
              <a:rPr sz="1950" b="0">
                <a:solidFill>
                  <a:srgbClr val="000000"/>
                </a:solidFill>
                <a:latin typeface="Arial"/>
              </a:rPr>
              <a:t>, de orden </a:t>
            </a:r>
            <a:r>
              <a:rPr sz="1950" b="0">
                <a:solidFill>
                  <a:srgbClr val="000000"/>
                </a:solidFill>
                <a:latin typeface="Consolas"/>
              </a:rPr>
              <a:t>p×m</a:t>
            </a:r>
            <a:r>
              <a:rPr sz="1950" b="0">
                <a:solidFill>
                  <a:srgbClr val="000000"/>
                </a:solidFill>
                <a:latin typeface="Arial"/>
              </a:rPr>
              <a:t>, es la transmisión directa de la entrada a la salida.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estado describe el sistema; la salida describe lo que el instrumento deja ver de él. Casi nunca son lo mismo.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POR QUÉ D SUELE SER CERO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Consolas"/>
              </a:rPr>
              <a:t>D ≠ 0</a:t>
            </a:r>
            <a:r>
              <a:rPr sz="1950" b="0">
                <a:solidFill>
                  <a:srgbClr val="000000"/>
                </a:solidFill>
                <a:latin typeface="Arial"/>
              </a:rPr>
              <a:t> significa que un cambio en la entrada aparece en la salida </a:t>
            </a:r>
            <a:r>
              <a:rPr sz="1950" b="1">
                <a:solidFill>
                  <a:srgbClr val="000000"/>
                </a:solidFill>
                <a:latin typeface="Arial"/>
              </a:rPr>
              <a:t>en el mismo instante</a:t>
            </a:r>
            <a:r>
              <a:rPr sz="1950" b="0">
                <a:solidFill>
                  <a:srgbClr val="000000"/>
                </a:solidFill>
                <a:latin typeface="Arial"/>
              </a:rPr>
              <a:t>, sin pasar por ningún integrador.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69374"/>
            <a:ext cx="10872216" cy="174421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869374"/>
            <a:ext cx="54864" cy="174421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988246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57deb3aad02a15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415" y="3335718"/>
            <a:ext cx="3262122" cy="345186"/>
          </a:xfrm>
          <a:prstGeom prst="rect">
            <a:avLst/>
          </a:prstGeom>
        </p:spPr>
      </p:pic>
      <p:pic>
        <p:nvPicPr>
          <p:cNvPr id="13" name="Picture 12" descr="f_1d0dfdd8a2f6d7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845496"/>
            <a:ext cx="1618488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Un sistema físico siempre tiene algo de inercia, así que </a:t>
            </a:r>
            <a:r>
              <a:rPr sz="1850" b="0">
                <a:solidFill>
                  <a:srgbClr val="000000"/>
                </a:solidFill>
                <a:latin typeface="Consolas"/>
              </a:rPr>
              <a:t>G(∞) = 0</a:t>
            </a:r>
            <a:r>
              <a:rPr sz="1850" b="0">
                <a:solidFill>
                  <a:srgbClr val="000000"/>
                </a:solidFill>
                <a:latin typeface="Arial"/>
              </a:rPr>
              <a:t> y por tanto </a:t>
            </a:r>
            <a:r>
              <a:rPr sz="1850" b="0">
                <a:solidFill>
                  <a:srgbClr val="000000"/>
                </a:solidFill>
                <a:latin typeface="Consolas"/>
              </a:rPr>
              <a:t>D = 0</a:t>
            </a:r>
            <a:r>
              <a:rPr sz="1850" b="0">
                <a:solidFill>
                  <a:srgbClr val="000000"/>
                </a:solidFill>
                <a:latin typeface="Arial"/>
              </a:rPr>
              <a:t>. Se dice entonces que el sistema es </a:t>
            </a:r>
            <a:r>
              <a:rPr sz="1850" b="1">
                <a:solidFill>
                  <a:srgbClr val="000000"/>
                </a:solidFill>
                <a:latin typeface="Arial"/>
              </a:rPr>
              <a:t>estrictamente propio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DOS SENSORES DISTINTOS, MISMO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Sobre el carro del subtema 2.1, según lo que se instale: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20943"/>
          <a:ext cx="10872215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53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SE MIDE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MATRIZ C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ORDEN DE Y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Solo la posición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[1  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1×1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Solo la velocidad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[0  1]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1×1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Posición y velocidad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[[1,0],[0,1]] =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2×1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Con </a:t>
            </a:r>
            <a:r>
              <a:rPr sz="1850" b="0">
                <a:solidFill>
                  <a:srgbClr val="000000"/>
                </a:solidFill>
                <a:latin typeface="Consolas"/>
              </a:rPr>
              <a:t>C = I</a:t>
            </a:r>
            <a:r>
              <a:rPr sz="1850" b="0">
                <a:solidFill>
                  <a:srgbClr val="000000"/>
                </a:solidFill>
                <a:latin typeface="Arial"/>
              </a:rPr>
              <a:t> la salida </a:t>
            </a:r>
            <a:r>
              <a:rPr sz="1850" b="1">
                <a:solidFill>
                  <a:srgbClr val="000000"/>
                </a:solidFill>
                <a:latin typeface="Arial"/>
              </a:rPr>
              <a:t>es</a:t>
            </a:r>
            <a:r>
              <a:rPr sz="1850" b="0">
                <a:solidFill>
                  <a:srgbClr val="000000"/>
                </a:solidFill>
                <a:latin typeface="Arial"/>
              </a:rPr>
              <a:t> el estado: se conoce todo. Es el caso ideal que casi nunca se da, y por eso existen los observadores.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ESCRIBA LA ECUACIÓN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el carro con estados </a:t>
            </a:r>
            <a:r>
              <a:rPr sz="1950" b="0">
                <a:solidFill>
                  <a:srgbClr val="000000"/>
                </a:solidFill>
                <a:latin typeface="Consolas"/>
              </a:rPr>
              <a:t>x₁ = posición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x₂ = velocidad</a:t>
            </a:r>
            <a:r>
              <a:rPr sz="1950" b="0">
                <a:solidFill>
                  <a:srgbClr val="000000"/>
                </a:solidFill>
                <a:latin typeface="Arial"/>
              </a:rPr>
              <a:t>, escriba </a:t>
            </a:r>
            <a:r>
              <a:rPr sz="1950" b="0">
                <a:solidFill>
                  <a:srgbClr val="000000"/>
                </a:solidFill>
                <a:latin typeface="Consolas"/>
              </a:rPr>
              <a:t>C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D</a:t>
            </a:r>
            <a:r>
              <a:rPr sz="1950" b="0">
                <a:solidFill>
                  <a:srgbClr val="000000"/>
                </a:solidFill>
                <a:latin typeface="Arial"/>
              </a:rPr>
              <a:t> si el sensor entrega: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25902"/>
            <a:ext cx="10872216" cy="876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la posición en metros;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b) la suma de posición y velocidad;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c) la posición, más un término </a:t>
            </a:r>
            <a:r>
              <a:rPr sz="1950" b="0">
                <a:solidFill>
                  <a:srgbClr val="000000"/>
                </a:solidFill>
                <a:latin typeface="Consolas"/>
              </a:rPr>
              <a:t>0,1·u</a:t>
            </a:r>
            <a:r>
              <a:rPr sz="1950" b="0">
                <a:solidFill>
                  <a:srgbClr val="000000"/>
                </a:solidFill>
                <a:latin typeface="Arial"/>
              </a:rPr>
              <a:t> por acoplamiento del actuador.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2.3 · VECTOR DE SALIDAS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5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39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0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a) Posición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[1  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b) Posición + velocidad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[1  1]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c) Posición con acoplamiento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[1  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Consolas"/>
                        </a:rPr>
                        <a:t>0,1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En el caso c) el sistema deja de ser estrictamente propio: parte de la señal de control se cuela en el sensor </a:t>
            </a:r>
            <a:r>
              <a:rPr sz="1850" b="1">
                <a:solidFill>
                  <a:srgbClr val="000000"/>
                </a:solidFill>
                <a:latin typeface="Arial"/>
              </a:rPr>
              <a:t>sin retardo</a:t>
            </a:r>
            <a:r>
              <a:rPr sz="1850" b="0">
                <a:solidFill>
                  <a:srgbClr val="000000"/>
                </a:solidFill>
                <a:latin typeface="Arial"/>
              </a:rPr>
              <a:t>, lo que en la práctica es ruido de acoplamiento, no dinámica.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UTILIDAD Y COMPARACIÓN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TEMA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10127"/>
            <a:ext cx="10872216" cy="9509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3.1  Utilidad de la representación en variables de estado</a:t>
            </a:r>
          </a:p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3.2  Espacio de estados frente a función de transferencia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QUÉ HABILITA TRABAJAR CON EL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EXPLICACIÓN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5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CAPACIDAD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POR QUÉ LA DA EL ESPACIO DE ESTADOS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Sistemas MIMO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 y C son matrices: varias entradas y salidas sin esfuerzo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Condiciones iniciales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x(0) es un dato explícito del modelo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No lineales y variantes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ẋ = f(x, u, t) admite cualquier forma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Control óptimo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el índice de desempeño se escribe sobre x y u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Estimación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el observador reconstruye lo que no se mide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Casi todo el curso vive de estas cinco filas.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37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LA SOLUCIÓN EXPLÍCITA DE LA ECUACIÓN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El espacio de estados entrega una fórmula cerrada para la evolución completa del sistema: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697638"/>
            <a:ext cx="10872216" cy="1817370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697638"/>
            <a:ext cx="54864" cy="1817370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16510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6691b8032b37a7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197" y="3163982"/>
            <a:ext cx="4464558" cy="525780"/>
          </a:xfrm>
          <a:prstGeom prst="rect">
            <a:avLst/>
          </a:prstGeom>
        </p:spPr>
      </p:pic>
      <p:pic>
        <p:nvPicPr>
          <p:cNvPr id="13" name="Picture 12" descr="f_988f04b7505731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743" y="3854354"/>
            <a:ext cx="2585466" cy="3040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primer término es la </a:t>
            </a:r>
            <a:r>
              <a:rPr sz="1850" b="1">
                <a:solidFill>
                  <a:srgbClr val="000000"/>
                </a:solidFill>
                <a:latin typeface="Arial"/>
              </a:rPr>
              <a:t>respuesta libre</a:t>
            </a:r>
            <a:r>
              <a:rPr sz="1850" b="0">
                <a:solidFill>
                  <a:srgbClr val="000000"/>
                </a:solidFill>
                <a:latin typeface="Arial"/>
              </a:rPr>
              <a:t>, la que arranca del estado inicial; el segundo es la </a:t>
            </a:r>
            <a:r>
              <a:rPr sz="1850" b="1">
                <a:solidFill>
                  <a:srgbClr val="000000"/>
                </a:solidFill>
                <a:latin typeface="Arial"/>
              </a:rPr>
              <a:t>forzada</a:t>
            </a:r>
            <a:r>
              <a:rPr sz="1850" b="0">
                <a:solidFill>
                  <a:srgbClr val="000000"/>
                </a:solidFill>
                <a:latin typeface="Arial"/>
              </a:rPr>
              <a:t>. La función de transferencia solo describe el segundo.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38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EL MISMO PROBLEMA CON LOS DOS ENFOQUES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Carro con </a:t>
            </a:r>
            <a:r>
              <a:rPr sz="1950" b="0">
                <a:solidFill>
                  <a:srgbClr val="000000"/>
                </a:solidFill>
                <a:latin typeface="Consolas"/>
              </a:rPr>
              <a:t>ÿ + 3ẏ + 2y = u</a:t>
            </a:r>
            <a:r>
              <a:rPr sz="1950" b="0">
                <a:solidFill>
                  <a:srgbClr val="000000"/>
                </a:solidFill>
                <a:latin typeface="Arial"/>
              </a:rPr>
              <a:t>, que arranca desde </a:t>
            </a:r>
            <a:r>
              <a:rPr sz="1950" b="0">
                <a:solidFill>
                  <a:srgbClr val="000000"/>
                </a:solidFill>
                <a:latin typeface="Consolas"/>
              </a:rPr>
              <a:t>y(0) = 0,5</a:t>
            </a:r>
            <a:r>
              <a:rPr sz="1950" b="0">
                <a:solidFill>
                  <a:srgbClr val="000000"/>
                </a:solidFill>
                <a:latin typeface="Arial"/>
              </a:rPr>
              <a:t> y </a:t>
            </a:r>
            <a:r>
              <a:rPr sz="1950" b="0">
                <a:solidFill>
                  <a:srgbClr val="000000"/>
                </a:solidFill>
                <a:latin typeface="Consolas"/>
              </a:rPr>
              <a:t>ẏ(0) = 0</a:t>
            </a:r>
            <a:r>
              <a:rPr sz="195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2620943"/>
          <a:ext cx="10872216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7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ENFOQUE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QUÉ PERMITE CALCULAR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Función de transferencia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solo la respuesta al escalón desde el reposo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Espacio de estados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la respuesta completa, incluida la libre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Espacio de estados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el diseño de K para colocar los polos donde se quiera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Los dos enfoques coinciden cuando el estado inicial es nulo. Fuera de ese caso, solo uno de los dos sirve.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39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ELIJA EL ENFOQUE ADECUADO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Indique qué representación usaría en cada situación y por qué: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33675"/>
            <a:ext cx="10872216" cy="11689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Un brazo robótico de dos articulaciones acopladas, con dos motores.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b) Medir experimentalmente la respuesta en frecuencia de un filtro.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c) Diseñar un controlador que minimice el consumo de energía.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d) Estimar la velocidad de un motor del que solo se mide la posición.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3.1 · UTILIDAD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5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CASO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ENFOQUE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RAZÓN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a) Brazo de 2 GDL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MIMO con acoplamiento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b) Respuesta en frecuencia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clásico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G(jω) es directamente medible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c) Mínimo consumo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el índice se escribe sobre x y u (LQR)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d) Estimar velocidad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estado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000000"/>
                          </a:solidFill>
                          <a:latin typeface="Arial"/>
                        </a:rPr>
                        <a:t>requiere un observador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enfoque clásico no está obsoleto: para identificar y para leer márgenes de estabilidad sigue siendo el más directo. Son </a:t>
            </a:r>
            <a:r>
              <a:rPr sz="1850" b="1">
                <a:solidFill>
                  <a:srgbClr val="000000"/>
                </a:solidFill>
                <a:latin typeface="Arial"/>
              </a:rPr>
              <a:t>herramientas complementarias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41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DOS DESCRIPCIONES DE LA MISMA PLANTA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EXPLICACIÓN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83664"/>
          <a:ext cx="10872214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4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4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4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FUNCIÓN DE TRANSFERENCIA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ESPACIO DE ESTADOS</a:t>
                      </a:r>
                    </a:p>
                  </a:txBody>
                  <a:tcPr anchor="ctr">
                    <a:solidFill>
                      <a:srgbClr val="8989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Dominio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frecuencia (s o 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tiempo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Alcance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solo SISO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MIMO natural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Condiciones iniciales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supuestas nulas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explícitas en x(0)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Información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solo entrada–salida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también lo interno</a:t>
                      </a:r>
                    </a:p>
                  </a:txBody>
                  <a:tcPr anchor="ctr">
                    <a:solidFill>
                      <a:srgbClr val="F1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Unicidad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única para la planta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infinitas realizaciones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La última fila es la más sorprendente: </a:t>
            </a:r>
            <a:r>
              <a:rPr sz="1850" b="1">
                <a:solidFill>
                  <a:srgbClr val="000000"/>
                </a:solidFill>
                <a:latin typeface="Arial"/>
              </a:rPr>
              <a:t>la función de transferencia es única, la representación en estado no</a:t>
            </a:r>
            <a:r>
              <a:rPr sz="1850" b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42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EL PUENTE ENTRE LAS DOS DESCRIPCIONES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DEMOSTRACIÓN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Del estado se pasa siempre a la transferencia; al revés hay que elegir una realización: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33675"/>
            <a:ext cx="10872216" cy="1643634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733675"/>
            <a:ext cx="54864" cy="1643634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52547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57deb3aad02a15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415" y="3200019"/>
            <a:ext cx="3262122" cy="345186"/>
          </a:xfrm>
          <a:prstGeom prst="rect">
            <a:avLst/>
          </a:prstGeom>
        </p:spPr>
      </p:pic>
      <p:pic>
        <p:nvPicPr>
          <p:cNvPr id="13" name="Picture 12" descr="f_b7a73a06126933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815" y="3709796"/>
            <a:ext cx="3719322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005069"/>
            <a:ext cx="10872216" cy="55448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paso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(A, B, C, D)</a:t>
            </a:r>
            <a:r>
              <a:rPr sz="1850" b="0">
                <a:solidFill>
                  <a:srgbClr val="000000"/>
                </a:solidFill>
                <a:latin typeface="Arial"/>
              </a:rPr>
              <a:t> a </a:t>
            </a:r>
            <a:r>
              <a:rPr sz="1850" b="0">
                <a:solidFill>
                  <a:srgbClr val="000000"/>
                </a:solidFill>
                <a:latin typeface="Consolas"/>
              </a:rPr>
              <a:t>G(s)</a:t>
            </a:r>
            <a:r>
              <a:rPr sz="1850" b="0">
                <a:solidFill>
                  <a:srgbClr val="000000"/>
                </a:solidFill>
                <a:latin typeface="Arial"/>
              </a:rPr>
              <a:t> es </a:t>
            </a:r>
            <a:r>
              <a:rPr sz="1850" b="1">
                <a:solidFill>
                  <a:srgbClr val="000000"/>
                </a:solidFill>
                <a:latin typeface="Arial"/>
              </a:rPr>
              <a:t>una sola dirección segura</a:t>
            </a:r>
            <a:r>
              <a:rPr sz="1850" b="0">
                <a:solidFill>
                  <a:srgbClr val="000000"/>
                </a:solidFill>
                <a:latin typeface="Arial"/>
              </a:rPr>
              <a:t>. Al volver se pierde todo lo que no aparece en la relación entrada–salida.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43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LO QUE LA TRANSFERENCIA ESCONDE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EJEMPLO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Las dos realizaciones siguientes tienen la misma </a:t>
            </a:r>
            <a:r>
              <a:rPr sz="1950" b="0">
                <a:solidFill>
                  <a:srgbClr val="000000"/>
                </a:solidFill>
                <a:latin typeface="Consolas"/>
              </a:rPr>
              <a:t>G(s) = 1/[(s+1)(s+2)]</a:t>
            </a:r>
            <a:r>
              <a:rPr sz="1950" b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22195"/>
            <a:ext cx="10872216" cy="255574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322195"/>
            <a:ext cx="54864" cy="255574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441067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2" name="Picture 11" descr="f_efcb300f998bf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62" y="2788539"/>
            <a:ext cx="5253228" cy="784098"/>
          </a:xfrm>
          <a:prstGeom prst="rect">
            <a:avLst/>
          </a:prstGeom>
        </p:spPr>
      </p:pic>
      <p:pic>
        <p:nvPicPr>
          <p:cNvPr id="13" name="Picture 12" descr="f_c8101fe5f3c630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0" y="3737229"/>
            <a:ext cx="5376672" cy="7840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5282310"/>
            <a:ext cx="10872216" cy="27724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Matrices distintas, misma transferencia. </a:t>
            </a:r>
            <a:r>
              <a:rPr sz="1850" b="0">
                <a:solidFill>
                  <a:srgbClr val="000000"/>
                </a:solidFill>
                <a:latin typeface="Consolas"/>
              </a:rPr>
              <a:t>G(s)</a:t>
            </a:r>
            <a:r>
              <a:rPr sz="1850" b="0">
                <a:solidFill>
                  <a:srgbClr val="000000"/>
                </a:solidFill>
                <a:latin typeface="Arial"/>
              </a:rPr>
              <a:t> describe </a:t>
            </a:r>
            <a:r>
              <a:rPr sz="1850" b="1">
                <a:solidFill>
                  <a:srgbClr val="000000"/>
                </a:solidFill>
                <a:latin typeface="Arial"/>
              </a:rPr>
              <a:t>el comportamiento</a:t>
            </a:r>
            <a:r>
              <a:rPr sz="1850" b="0">
                <a:solidFill>
                  <a:srgbClr val="000000"/>
                </a:solidFill>
                <a:latin typeface="Arial"/>
              </a:rPr>
              <a:t>, no la estructura interna.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44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ANALICE EL SISTEMA CON CANCELACIÓN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EJERCICIO DE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10872216" cy="29222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Para la realización</a:t>
            </a:r>
          </a:p>
        </p:txBody>
      </p:sp>
      <p:pic>
        <p:nvPicPr>
          <p:cNvPr id="9" name="Picture 8" descr="f_b063a504133a9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749" y="2788539"/>
            <a:ext cx="4775454" cy="784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4221861"/>
            <a:ext cx="10872216" cy="5844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950" b="0">
                <a:solidFill>
                  <a:srgbClr val="000000"/>
                </a:solidFill>
                <a:latin typeface="Arial"/>
              </a:rPr>
              <a:t>a) Calcule </a:t>
            </a:r>
            <a:r>
              <a:rPr sz="1950" b="0">
                <a:solidFill>
                  <a:srgbClr val="000000"/>
                </a:solidFill>
                <a:latin typeface="Consolas"/>
              </a:rPr>
              <a:t>G(s)</a:t>
            </a:r>
            <a:r>
              <a:rPr sz="1950" b="0">
                <a:solidFill>
                  <a:srgbClr val="000000"/>
                </a:solidFill>
                <a:latin typeface="Arial"/>
              </a:rPr>
              <a:t>. b) ¿Cuántos polos aparecen y cuántos autovalores tiene </a:t>
            </a:r>
            <a:r>
              <a:rPr sz="1950" b="0">
                <a:solidFill>
                  <a:srgbClr val="000000"/>
                </a:solidFill>
                <a:latin typeface="Consolas"/>
              </a:rPr>
              <a:t>A</a:t>
            </a:r>
            <a:r>
              <a:rPr sz="1950" b="0">
                <a:solidFill>
                  <a:srgbClr val="000000"/>
                </a:solidFill>
                <a:latin typeface="Arial"/>
              </a:rPr>
              <a:t>? c) ¿Qué le ocurre al modo faltante?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86323"/>
            <a:ext cx="12191695" cy="1071676"/>
          </a:xfrm>
          <a:prstGeom prst="rect">
            <a:avLst/>
          </a:prstGeom>
          <a:solidFill>
            <a:srgbClr val="D5D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-27432"/>
            <a:ext cx="777240" cy="722376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pic>
        <p:nvPicPr>
          <p:cNvPr id="4" name="Picture 3" descr="logo_eti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720"/>
            <a:ext cx="2487168" cy="795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15407" y="256032"/>
            <a:ext cx="6400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6066 SISTEMAS DE CONTROL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872216" cy="60350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36192"/>
            <a:ext cx="1087221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898989"/>
                </a:solidFill>
                <a:latin typeface="Arial"/>
              </a:rPr>
              <a:t>3.2 · ESTADO VS. TRANSFERENCIA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10872216" cy="2658618"/>
          </a:xfrm>
          <a:prstGeom prst="rect">
            <a:avLst/>
          </a:prstGeom>
          <a:solidFill>
            <a:srgbClr val="EF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54864" cy="2658618"/>
          </a:xfrm>
          <a:prstGeom prst="rect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002536"/>
            <a:ext cx="10049256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898989"/>
                </a:solidFill>
                <a:latin typeface="Arial"/>
              </a:rPr>
              <a:t>DESARROLLO</a:t>
            </a:r>
          </a:p>
        </p:txBody>
      </p:sp>
      <p:pic>
        <p:nvPicPr>
          <p:cNvPr id="11" name="Picture 10" descr="f_64e9ce6a80466f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247" y="2350008"/>
            <a:ext cx="1378458" cy="441198"/>
          </a:xfrm>
          <a:prstGeom prst="rect">
            <a:avLst/>
          </a:prstGeom>
        </p:spPr>
      </p:pic>
      <p:pic>
        <p:nvPicPr>
          <p:cNvPr id="12" name="Picture 11" descr="f_6a671c99c80d03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098" y="2955798"/>
            <a:ext cx="3762756" cy="285750"/>
          </a:xfrm>
          <a:prstGeom prst="rect">
            <a:avLst/>
          </a:prstGeom>
        </p:spPr>
      </p:pic>
      <p:pic>
        <p:nvPicPr>
          <p:cNvPr id="13" name="Picture 12" descr="f_4537f14da3da35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218" y="3406140"/>
            <a:ext cx="4128515" cy="7795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" y="4727829"/>
            <a:ext cx="10872216" cy="83172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50" b="0">
                <a:solidFill>
                  <a:srgbClr val="000000"/>
                </a:solidFill>
                <a:latin typeface="Arial"/>
              </a:rPr>
              <a:t>El modo en </a:t>
            </a:r>
            <a:r>
              <a:rPr sz="1850" b="0">
                <a:solidFill>
                  <a:srgbClr val="000000"/>
                </a:solidFill>
                <a:latin typeface="Consolas"/>
              </a:rPr>
              <a:t>−2</a:t>
            </a:r>
            <a:r>
              <a:rPr sz="1850" b="0">
                <a:solidFill>
                  <a:srgbClr val="000000"/>
                </a:solidFill>
                <a:latin typeface="Arial"/>
              </a:rPr>
              <a:t> existe y evoluciona, pero la entrada no lo alcanza: es </a:t>
            </a:r>
            <a:r>
              <a:rPr sz="1850" b="1">
                <a:solidFill>
                  <a:srgbClr val="000000"/>
                </a:solidFill>
                <a:latin typeface="Arial"/>
              </a:rPr>
              <a:t>incontrolable</a:t>
            </a:r>
            <a:r>
              <a:rPr sz="1850" b="0">
                <a:solidFill>
                  <a:srgbClr val="000000"/>
                </a:solidFill>
                <a:latin typeface="Arial"/>
              </a:rPr>
              <a:t> y desaparece de </a:t>
            </a:r>
            <a:r>
              <a:rPr sz="1850" b="0">
                <a:solidFill>
                  <a:srgbClr val="000000"/>
                </a:solidFill>
                <a:latin typeface="Consolas"/>
              </a:rPr>
              <a:t>G(s)</a:t>
            </a:r>
            <a:r>
              <a:rPr sz="1850" b="0">
                <a:solidFill>
                  <a:srgbClr val="000000"/>
                </a:solidFill>
                <a:latin typeface="Arial"/>
              </a:rPr>
              <a:t>. Si ese modo fuera inestable, la transferencia mostraría un sistema sano mientras la planta se dispara.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3314</Words>
  <Application>Microsoft Macintosh PowerPoint</Application>
  <PresentationFormat>Panorámica</PresentationFormat>
  <Paragraphs>460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Jheyson Fabian Villavisan Buitrago</cp:lastModifiedBy>
  <cp:revision>1</cp:revision>
  <dcterms:created xsi:type="dcterms:W3CDTF">2013-01-27T09:14:16Z</dcterms:created>
  <dcterms:modified xsi:type="dcterms:W3CDTF">2026-08-08T23:06:35Z</dcterms:modified>
  <cp:category/>
</cp:coreProperties>
</file>