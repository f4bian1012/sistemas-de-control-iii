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1" r:id="rId8"/>
    <p:sldId id="262" r:id="rId9"/>
    <p:sldId id="263" r:id="rId10"/>
    <p:sldId id="30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303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1C8C2D-B8D8-443C-B031-4EB41C9A63F5}" v="4" dt="2026-08-19T13:29:28.8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50" d="100"/>
          <a:sy n="150" d="100"/>
        </p:scale>
        <p:origin x="65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EYSON FABIAN VILLAVISAN BUITRAGO" userId="e5ced5c2-d787-455d-b115-4f08a699b8c8" providerId="ADAL" clId="{6F85ADF9-4154-43EC-8FCF-2B8E9588BEA1}"/>
    <pc:docChg chg="undo redo custSel addSld modSld">
      <pc:chgData name="JHEYSON FABIAN VILLAVISAN BUITRAGO" userId="e5ced5c2-d787-455d-b115-4f08a699b8c8" providerId="ADAL" clId="{6F85ADF9-4154-43EC-8FCF-2B8E9588BEA1}" dt="2026-08-19T13:44:31.937" v="84" actId="20577"/>
      <pc:docMkLst>
        <pc:docMk/>
      </pc:docMkLst>
      <pc:sldChg chg="addSp delSp modSp mod">
        <pc:chgData name="JHEYSON FABIAN VILLAVISAN BUITRAGO" userId="e5ced5c2-d787-455d-b115-4f08a699b8c8" providerId="ADAL" clId="{6F85ADF9-4154-43EC-8FCF-2B8E9588BEA1}" dt="2026-08-19T12:55:15.509" v="18" actId="14100"/>
        <pc:sldMkLst>
          <pc:docMk/>
          <pc:sldMk cId="0" sldId="261"/>
        </pc:sldMkLst>
        <pc:spChg chg="del">
          <ac:chgData name="JHEYSON FABIAN VILLAVISAN BUITRAGO" userId="e5ced5c2-d787-455d-b115-4f08a699b8c8" providerId="ADAL" clId="{6F85ADF9-4154-43EC-8FCF-2B8E9588BEA1}" dt="2026-08-19T12:55:07.939" v="13" actId="478"/>
          <ac:spMkLst>
            <pc:docMk/>
            <pc:sldMk cId="0" sldId="261"/>
            <ac:spMk id="9" creationId="{00000000-0000-0000-0000-000000000000}"/>
          </ac:spMkLst>
        </pc:spChg>
        <pc:spChg chg="del">
          <ac:chgData name="JHEYSON FABIAN VILLAVISAN BUITRAGO" userId="e5ced5c2-d787-455d-b115-4f08a699b8c8" providerId="ADAL" clId="{6F85ADF9-4154-43EC-8FCF-2B8E9588BEA1}" dt="2026-08-19T12:55:10.191" v="15" actId="478"/>
          <ac:spMkLst>
            <pc:docMk/>
            <pc:sldMk cId="0" sldId="261"/>
            <ac:spMk id="10" creationId="{00000000-0000-0000-0000-000000000000}"/>
          </ac:spMkLst>
        </pc:spChg>
        <pc:spChg chg="del">
          <ac:chgData name="JHEYSON FABIAN VILLAVISAN BUITRAGO" userId="e5ced5c2-d787-455d-b115-4f08a699b8c8" providerId="ADAL" clId="{6F85ADF9-4154-43EC-8FCF-2B8E9588BEA1}" dt="2026-08-19T12:55:09.056" v="14" actId="478"/>
          <ac:spMkLst>
            <pc:docMk/>
            <pc:sldMk cId="0" sldId="261"/>
            <ac:spMk id="11" creationId="{00000000-0000-0000-0000-000000000000}"/>
          </ac:spMkLst>
        </pc:spChg>
        <pc:spChg chg="del mod">
          <ac:chgData name="JHEYSON FABIAN VILLAVISAN BUITRAGO" userId="e5ced5c2-d787-455d-b115-4f08a699b8c8" providerId="ADAL" clId="{6F85ADF9-4154-43EC-8FCF-2B8E9588BEA1}" dt="2026-08-19T12:55:05.800" v="12" actId="478"/>
          <ac:spMkLst>
            <pc:docMk/>
            <pc:sldMk cId="0" sldId="261"/>
            <ac:spMk id="15" creationId="{00000000-0000-0000-0000-000000000000}"/>
          </ac:spMkLst>
        </pc:spChg>
        <pc:picChg chg="del">
          <ac:chgData name="JHEYSON FABIAN VILLAVISAN BUITRAGO" userId="e5ced5c2-d787-455d-b115-4f08a699b8c8" providerId="ADAL" clId="{6F85ADF9-4154-43EC-8FCF-2B8E9588BEA1}" dt="2026-08-19T12:55:02.307" v="9" actId="478"/>
          <ac:picMkLst>
            <pc:docMk/>
            <pc:sldMk cId="0" sldId="261"/>
            <ac:picMk id="12" creationId="{00000000-0000-0000-0000-000000000000}"/>
          </ac:picMkLst>
        </pc:picChg>
        <pc:picChg chg="del">
          <ac:chgData name="JHEYSON FABIAN VILLAVISAN BUITRAGO" userId="e5ced5c2-d787-455d-b115-4f08a699b8c8" providerId="ADAL" clId="{6F85ADF9-4154-43EC-8FCF-2B8E9588BEA1}" dt="2026-08-19T12:55:02.933" v="10" actId="478"/>
          <ac:picMkLst>
            <pc:docMk/>
            <pc:sldMk cId="0" sldId="261"/>
            <ac:picMk id="13" creationId="{00000000-0000-0000-0000-000000000000}"/>
          </ac:picMkLst>
        </pc:picChg>
        <pc:picChg chg="del">
          <ac:chgData name="JHEYSON FABIAN VILLAVISAN BUITRAGO" userId="e5ced5c2-d787-455d-b115-4f08a699b8c8" providerId="ADAL" clId="{6F85ADF9-4154-43EC-8FCF-2B8E9588BEA1}" dt="2026-08-19T12:55:04.009" v="11" actId="478"/>
          <ac:picMkLst>
            <pc:docMk/>
            <pc:sldMk cId="0" sldId="261"/>
            <ac:picMk id="14" creationId="{00000000-0000-0000-0000-000000000000}"/>
          </ac:picMkLst>
        </pc:picChg>
        <pc:picChg chg="add mod">
          <ac:chgData name="JHEYSON FABIAN VILLAVISAN BUITRAGO" userId="e5ced5c2-d787-455d-b115-4f08a699b8c8" providerId="ADAL" clId="{6F85ADF9-4154-43EC-8FCF-2B8E9588BEA1}" dt="2026-08-19T12:55:15.509" v="18" actId="14100"/>
          <ac:picMkLst>
            <pc:docMk/>
            <pc:sldMk cId="0" sldId="261"/>
            <ac:picMk id="17" creationId="{39DD5C5A-F7CF-A01C-6064-A7B92814CBE2}"/>
          </ac:picMkLst>
        </pc:picChg>
      </pc:sldChg>
      <pc:sldChg chg="addSp modSp mod">
        <pc:chgData name="JHEYSON FABIAN VILLAVISAN BUITRAGO" userId="e5ced5c2-d787-455d-b115-4f08a699b8c8" providerId="ADAL" clId="{6F85ADF9-4154-43EC-8FCF-2B8E9588BEA1}" dt="2026-08-19T13:03:51.428" v="22" actId="1076"/>
        <pc:sldMkLst>
          <pc:docMk/>
          <pc:sldMk cId="0" sldId="262"/>
        </pc:sldMkLst>
        <pc:picChg chg="add mod">
          <ac:chgData name="JHEYSON FABIAN VILLAVISAN BUITRAGO" userId="e5ced5c2-d787-455d-b115-4f08a699b8c8" providerId="ADAL" clId="{6F85ADF9-4154-43EC-8FCF-2B8E9588BEA1}" dt="2026-08-19T13:03:51.428" v="22" actId="1076"/>
          <ac:picMkLst>
            <pc:docMk/>
            <pc:sldMk cId="0" sldId="262"/>
            <ac:picMk id="11" creationId="{B57D5423-AD18-171C-244A-574DF42EE47C}"/>
          </ac:picMkLst>
        </pc:picChg>
      </pc:sldChg>
      <pc:sldChg chg="addSp delSp modSp mod">
        <pc:chgData name="JHEYSON FABIAN VILLAVISAN BUITRAGO" userId="e5ced5c2-d787-455d-b115-4f08a699b8c8" providerId="ADAL" clId="{6F85ADF9-4154-43EC-8FCF-2B8E9588BEA1}" dt="2026-08-19T13:05:55.829" v="35" actId="1076"/>
        <pc:sldMkLst>
          <pc:docMk/>
          <pc:sldMk cId="0" sldId="263"/>
        </pc:sldMkLst>
        <pc:graphicFrameChg chg="del">
          <ac:chgData name="JHEYSON FABIAN VILLAVISAN BUITRAGO" userId="e5ced5c2-d787-455d-b115-4f08a699b8c8" providerId="ADAL" clId="{6F85ADF9-4154-43EC-8FCF-2B8E9588BEA1}" dt="2026-08-19T13:05:50.253" v="33" actId="478"/>
          <ac:graphicFrameMkLst>
            <pc:docMk/>
            <pc:sldMk cId="0" sldId="263"/>
            <ac:graphicFrameMk id="8" creationId="{00000000-0000-0000-0000-000000000000}"/>
          </ac:graphicFrameMkLst>
        </pc:graphicFrameChg>
        <pc:picChg chg="add mod">
          <ac:chgData name="JHEYSON FABIAN VILLAVISAN BUITRAGO" userId="e5ced5c2-d787-455d-b115-4f08a699b8c8" providerId="ADAL" clId="{6F85ADF9-4154-43EC-8FCF-2B8E9588BEA1}" dt="2026-08-19T13:05:55.829" v="35" actId="1076"/>
          <ac:picMkLst>
            <pc:docMk/>
            <pc:sldMk cId="0" sldId="263"/>
            <ac:picMk id="11" creationId="{859467F9-AF96-E1C9-C2FA-2B3CDE4198C9}"/>
          </ac:picMkLst>
        </pc:picChg>
      </pc:sldChg>
      <pc:sldChg chg="modSp mod">
        <pc:chgData name="JHEYSON FABIAN VILLAVISAN BUITRAGO" userId="e5ced5c2-d787-455d-b115-4f08a699b8c8" providerId="ADAL" clId="{6F85ADF9-4154-43EC-8FCF-2B8E9588BEA1}" dt="2026-08-19T13:11:19.883" v="41"/>
        <pc:sldMkLst>
          <pc:docMk/>
          <pc:sldMk cId="0" sldId="264"/>
        </pc:sldMkLst>
        <pc:spChg chg="mod">
          <ac:chgData name="JHEYSON FABIAN VILLAVISAN BUITRAGO" userId="e5ced5c2-d787-455d-b115-4f08a699b8c8" providerId="ADAL" clId="{6F85ADF9-4154-43EC-8FCF-2B8E9588BEA1}" dt="2026-08-19T13:06:41.777" v="39" actId="115"/>
          <ac:spMkLst>
            <pc:docMk/>
            <pc:sldMk cId="0" sldId="264"/>
            <ac:spMk id="11" creationId="{00000000-0000-0000-0000-000000000000}"/>
          </ac:spMkLst>
        </pc:spChg>
        <pc:spChg chg="mod">
          <ac:chgData name="JHEYSON FABIAN VILLAVISAN BUITRAGO" userId="e5ced5c2-d787-455d-b115-4f08a699b8c8" providerId="ADAL" clId="{6F85ADF9-4154-43EC-8FCF-2B8E9588BEA1}" dt="2026-08-19T13:11:19.883" v="41"/>
          <ac:spMkLst>
            <pc:docMk/>
            <pc:sldMk cId="0" sldId="264"/>
            <ac:spMk id="13" creationId="{00000000-0000-0000-0000-000000000000}"/>
          </ac:spMkLst>
        </pc:spChg>
      </pc:sldChg>
      <pc:sldChg chg="addSp modSp mod">
        <pc:chgData name="JHEYSON FABIAN VILLAVISAN BUITRAGO" userId="e5ced5c2-d787-455d-b115-4f08a699b8c8" providerId="ADAL" clId="{6F85ADF9-4154-43EC-8FCF-2B8E9588BEA1}" dt="2026-08-19T13:12:53.721" v="47" actId="1076"/>
        <pc:sldMkLst>
          <pc:docMk/>
          <pc:sldMk cId="0" sldId="265"/>
        </pc:sldMkLst>
        <pc:spChg chg="mod">
          <ac:chgData name="JHEYSON FABIAN VILLAVISAN BUITRAGO" userId="e5ced5c2-d787-455d-b115-4f08a699b8c8" providerId="ADAL" clId="{6F85ADF9-4154-43EC-8FCF-2B8E9588BEA1}" dt="2026-08-19T13:11:56.919" v="42" actId="113"/>
          <ac:spMkLst>
            <pc:docMk/>
            <pc:sldMk cId="0" sldId="265"/>
            <ac:spMk id="15" creationId="{00000000-0000-0000-0000-000000000000}"/>
          </ac:spMkLst>
        </pc:spChg>
        <pc:picChg chg="mod modCrop">
          <ac:chgData name="JHEYSON FABIAN VILLAVISAN BUITRAGO" userId="e5ced5c2-d787-455d-b115-4f08a699b8c8" providerId="ADAL" clId="{6F85ADF9-4154-43EC-8FCF-2B8E9588BEA1}" dt="2026-08-19T13:12:53.721" v="47" actId="1076"/>
          <ac:picMkLst>
            <pc:docMk/>
            <pc:sldMk cId="0" sldId="265"/>
            <ac:picMk id="14" creationId="{00000000-0000-0000-0000-000000000000}"/>
          </ac:picMkLst>
        </pc:picChg>
        <pc:picChg chg="add mod">
          <ac:chgData name="JHEYSON FABIAN VILLAVISAN BUITRAGO" userId="e5ced5c2-d787-455d-b115-4f08a699b8c8" providerId="ADAL" clId="{6F85ADF9-4154-43EC-8FCF-2B8E9588BEA1}" dt="2026-08-19T13:12:28.109" v="44" actId="1076"/>
          <ac:picMkLst>
            <pc:docMk/>
            <pc:sldMk cId="0" sldId="265"/>
            <ac:picMk id="17" creationId="{B185310A-B22D-DD21-F53E-FE2AC768E13E}"/>
          </ac:picMkLst>
        </pc:picChg>
      </pc:sldChg>
      <pc:sldChg chg="modSp mod">
        <pc:chgData name="JHEYSON FABIAN VILLAVISAN BUITRAGO" userId="e5ced5c2-d787-455d-b115-4f08a699b8c8" providerId="ADAL" clId="{6F85ADF9-4154-43EC-8FCF-2B8E9588BEA1}" dt="2026-08-19T13:21:09.540" v="57" actId="113"/>
        <pc:sldMkLst>
          <pc:docMk/>
          <pc:sldMk cId="0" sldId="266"/>
        </pc:sldMkLst>
        <pc:spChg chg="mod">
          <ac:chgData name="JHEYSON FABIAN VILLAVISAN BUITRAGO" userId="e5ced5c2-d787-455d-b115-4f08a699b8c8" providerId="ADAL" clId="{6F85ADF9-4154-43EC-8FCF-2B8E9588BEA1}" dt="2026-08-19T13:21:09.540" v="57" actId="113"/>
          <ac:spMkLst>
            <pc:docMk/>
            <pc:sldMk cId="0" sldId="266"/>
            <ac:spMk id="8" creationId="{00000000-0000-0000-0000-000000000000}"/>
          </ac:spMkLst>
        </pc:spChg>
      </pc:sldChg>
      <pc:sldChg chg="modSp mod">
        <pc:chgData name="JHEYSON FABIAN VILLAVISAN BUITRAGO" userId="e5ced5c2-d787-455d-b115-4f08a699b8c8" providerId="ADAL" clId="{6F85ADF9-4154-43EC-8FCF-2B8E9588BEA1}" dt="2026-08-19T13:24:42.931" v="60" actId="113"/>
        <pc:sldMkLst>
          <pc:docMk/>
          <pc:sldMk cId="0" sldId="267"/>
        </pc:sldMkLst>
        <pc:spChg chg="mod">
          <ac:chgData name="JHEYSON FABIAN VILLAVISAN BUITRAGO" userId="e5ced5c2-d787-455d-b115-4f08a699b8c8" providerId="ADAL" clId="{6F85ADF9-4154-43EC-8FCF-2B8E9588BEA1}" dt="2026-08-19T13:24:42.931" v="60" actId="113"/>
          <ac:spMkLst>
            <pc:docMk/>
            <pc:sldMk cId="0" sldId="267"/>
            <ac:spMk id="8" creationId="{00000000-0000-0000-0000-000000000000}"/>
          </ac:spMkLst>
        </pc:spChg>
        <pc:graphicFrameChg chg="modGraphic">
          <ac:chgData name="JHEYSON FABIAN VILLAVISAN BUITRAGO" userId="e5ced5c2-d787-455d-b115-4f08a699b8c8" providerId="ADAL" clId="{6F85ADF9-4154-43EC-8FCF-2B8E9588BEA1}" dt="2026-08-19T13:14:11.784" v="50" actId="2165"/>
          <ac:graphicFrameMkLst>
            <pc:docMk/>
            <pc:sldMk cId="0" sldId="267"/>
            <ac:graphicFrameMk id="9" creationId="{00000000-0000-0000-0000-000000000000}"/>
          </ac:graphicFrameMkLst>
        </pc:graphicFrameChg>
      </pc:sldChg>
      <pc:sldChg chg="modSp mod">
        <pc:chgData name="JHEYSON FABIAN VILLAVISAN BUITRAGO" userId="e5ced5c2-d787-455d-b115-4f08a699b8c8" providerId="ADAL" clId="{6F85ADF9-4154-43EC-8FCF-2B8E9588BEA1}" dt="2026-08-19T13:14:18.071" v="51" actId="2165"/>
        <pc:sldMkLst>
          <pc:docMk/>
          <pc:sldMk cId="0" sldId="268"/>
        </pc:sldMkLst>
        <pc:graphicFrameChg chg="modGraphic">
          <ac:chgData name="JHEYSON FABIAN VILLAVISAN BUITRAGO" userId="e5ced5c2-d787-455d-b115-4f08a699b8c8" providerId="ADAL" clId="{6F85ADF9-4154-43EC-8FCF-2B8E9588BEA1}" dt="2026-08-19T13:14:18.071" v="51" actId="2165"/>
          <ac:graphicFrameMkLst>
            <pc:docMk/>
            <pc:sldMk cId="0" sldId="268"/>
            <ac:graphicFrameMk id="8" creationId="{00000000-0000-0000-0000-000000000000}"/>
          </ac:graphicFrameMkLst>
        </pc:graphicFrameChg>
      </pc:sldChg>
      <pc:sldChg chg="modSp mod">
        <pc:chgData name="JHEYSON FABIAN VILLAVISAN BUITRAGO" userId="e5ced5c2-d787-455d-b115-4f08a699b8c8" providerId="ADAL" clId="{6F85ADF9-4154-43EC-8FCF-2B8E9588BEA1}" dt="2026-08-19T13:17:22.001" v="54"/>
        <pc:sldMkLst>
          <pc:docMk/>
          <pc:sldMk cId="0" sldId="275"/>
        </pc:sldMkLst>
        <pc:spChg chg="mod">
          <ac:chgData name="JHEYSON FABIAN VILLAVISAN BUITRAGO" userId="e5ced5c2-d787-455d-b115-4f08a699b8c8" providerId="ADAL" clId="{6F85ADF9-4154-43EC-8FCF-2B8E9588BEA1}" dt="2026-08-19T13:17:22.001" v="54"/>
          <ac:spMkLst>
            <pc:docMk/>
            <pc:sldMk cId="0" sldId="275"/>
            <ac:spMk id="12" creationId="{00000000-0000-0000-0000-000000000000}"/>
          </ac:spMkLst>
        </pc:spChg>
        <pc:spChg chg="mod">
          <ac:chgData name="JHEYSON FABIAN VILLAVISAN BUITRAGO" userId="e5ced5c2-d787-455d-b115-4f08a699b8c8" providerId="ADAL" clId="{6F85ADF9-4154-43EC-8FCF-2B8E9588BEA1}" dt="2026-08-19T13:16:37.482" v="52" actId="113"/>
          <ac:spMkLst>
            <pc:docMk/>
            <pc:sldMk cId="0" sldId="275"/>
            <ac:spMk id="13" creationId="{00000000-0000-0000-0000-000000000000}"/>
          </ac:spMkLst>
        </pc:spChg>
      </pc:sldChg>
      <pc:sldChg chg="modSp mod">
        <pc:chgData name="JHEYSON FABIAN VILLAVISAN BUITRAGO" userId="e5ced5c2-d787-455d-b115-4f08a699b8c8" providerId="ADAL" clId="{6F85ADF9-4154-43EC-8FCF-2B8E9588BEA1}" dt="2026-08-19T13:26:47.895" v="64" actId="20577"/>
        <pc:sldMkLst>
          <pc:docMk/>
          <pc:sldMk cId="0" sldId="277"/>
        </pc:sldMkLst>
        <pc:spChg chg="mod">
          <ac:chgData name="JHEYSON FABIAN VILLAVISAN BUITRAGO" userId="e5ced5c2-d787-455d-b115-4f08a699b8c8" providerId="ADAL" clId="{6F85ADF9-4154-43EC-8FCF-2B8E9588BEA1}" dt="2026-08-19T13:26:47.895" v="64" actId="20577"/>
          <ac:spMkLst>
            <pc:docMk/>
            <pc:sldMk cId="0" sldId="277"/>
            <ac:spMk id="13" creationId="{00000000-0000-0000-0000-000000000000}"/>
          </ac:spMkLst>
        </pc:spChg>
      </pc:sldChg>
      <pc:sldChg chg="delSp mod">
        <pc:chgData name="JHEYSON FABIAN VILLAVISAN BUITRAGO" userId="e5ced5c2-d787-455d-b115-4f08a699b8c8" providerId="ADAL" clId="{6F85ADF9-4154-43EC-8FCF-2B8E9588BEA1}" dt="2026-08-19T13:28:56.649" v="65" actId="478"/>
        <pc:sldMkLst>
          <pc:docMk/>
          <pc:sldMk cId="0" sldId="279"/>
        </pc:sldMkLst>
        <pc:spChg chg="del">
          <ac:chgData name="JHEYSON FABIAN VILLAVISAN BUITRAGO" userId="e5ced5c2-d787-455d-b115-4f08a699b8c8" providerId="ADAL" clId="{6F85ADF9-4154-43EC-8FCF-2B8E9588BEA1}" dt="2026-08-19T13:28:56.649" v="65" actId="478"/>
          <ac:spMkLst>
            <pc:docMk/>
            <pc:sldMk cId="0" sldId="279"/>
            <ac:spMk id="13" creationId="{00000000-0000-0000-0000-000000000000}"/>
          </ac:spMkLst>
        </pc:spChg>
      </pc:sldChg>
      <pc:sldChg chg="modSp mod">
        <pc:chgData name="JHEYSON FABIAN VILLAVISAN BUITRAGO" userId="e5ced5c2-d787-455d-b115-4f08a699b8c8" providerId="ADAL" clId="{6F85ADF9-4154-43EC-8FCF-2B8E9588BEA1}" dt="2026-08-19T13:29:50.270" v="68" actId="113"/>
        <pc:sldMkLst>
          <pc:docMk/>
          <pc:sldMk cId="0" sldId="280"/>
        </pc:sldMkLst>
        <pc:spChg chg="mod">
          <ac:chgData name="JHEYSON FABIAN VILLAVISAN BUITRAGO" userId="e5ced5c2-d787-455d-b115-4f08a699b8c8" providerId="ADAL" clId="{6F85ADF9-4154-43EC-8FCF-2B8E9588BEA1}" dt="2026-08-19T13:29:29.392" v="67" actId="113"/>
          <ac:spMkLst>
            <pc:docMk/>
            <pc:sldMk cId="0" sldId="280"/>
            <ac:spMk id="8" creationId="{00000000-0000-0000-0000-000000000000}"/>
          </ac:spMkLst>
        </pc:spChg>
        <pc:spChg chg="mod">
          <ac:chgData name="JHEYSON FABIAN VILLAVISAN BUITRAGO" userId="e5ced5c2-d787-455d-b115-4f08a699b8c8" providerId="ADAL" clId="{6F85ADF9-4154-43EC-8FCF-2B8E9588BEA1}" dt="2026-08-19T13:29:50.270" v="68" actId="113"/>
          <ac:spMkLst>
            <pc:docMk/>
            <pc:sldMk cId="0" sldId="280"/>
            <ac:spMk id="12" creationId="{00000000-0000-0000-0000-000000000000}"/>
          </ac:spMkLst>
        </pc:spChg>
      </pc:sldChg>
      <pc:sldChg chg="addSp delSp modSp mod">
        <pc:chgData name="JHEYSON FABIAN VILLAVISAN BUITRAGO" userId="e5ced5c2-d787-455d-b115-4f08a699b8c8" providerId="ADAL" clId="{6F85ADF9-4154-43EC-8FCF-2B8E9588BEA1}" dt="2026-08-19T13:32:04.672" v="79" actId="478"/>
        <pc:sldMkLst>
          <pc:docMk/>
          <pc:sldMk cId="0" sldId="282"/>
        </pc:sldMkLst>
        <pc:spChg chg="del">
          <ac:chgData name="JHEYSON FABIAN VILLAVISAN BUITRAGO" userId="e5ced5c2-d787-455d-b115-4f08a699b8c8" providerId="ADAL" clId="{6F85ADF9-4154-43EC-8FCF-2B8E9588BEA1}" dt="2026-08-19T13:31:59.286" v="74" actId="478"/>
          <ac:spMkLst>
            <pc:docMk/>
            <pc:sldMk cId="0" sldId="282"/>
            <ac:spMk id="9" creationId="{00000000-0000-0000-0000-000000000000}"/>
          </ac:spMkLst>
        </pc:spChg>
        <pc:spChg chg="del">
          <ac:chgData name="JHEYSON FABIAN VILLAVISAN BUITRAGO" userId="e5ced5c2-d787-455d-b115-4f08a699b8c8" providerId="ADAL" clId="{6F85ADF9-4154-43EC-8FCF-2B8E9588BEA1}" dt="2026-08-19T13:32:04.672" v="79" actId="478"/>
          <ac:spMkLst>
            <pc:docMk/>
            <pc:sldMk cId="0" sldId="282"/>
            <ac:spMk id="10" creationId="{00000000-0000-0000-0000-000000000000}"/>
          </ac:spMkLst>
        </pc:spChg>
        <pc:spChg chg="del">
          <ac:chgData name="JHEYSON FABIAN VILLAVISAN BUITRAGO" userId="e5ced5c2-d787-455d-b115-4f08a699b8c8" providerId="ADAL" clId="{6F85ADF9-4154-43EC-8FCF-2B8E9588BEA1}" dt="2026-08-19T13:32:00.461" v="75" actId="478"/>
          <ac:spMkLst>
            <pc:docMk/>
            <pc:sldMk cId="0" sldId="282"/>
            <ac:spMk id="11" creationId="{00000000-0000-0000-0000-000000000000}"/>
          </ac:spMkLst>
        </pc:spChg>
        <pc:picChg chg="del">
          <ac:chgData name="JHEYSON FABIAN VILLAVISAN BUITRAGO" userId="e5ced5c2-d787-455d-b115-4f08a699b8c8" providerId="ADAL" clId="{6F85ADF9-4154-43EC-8FCF-2B8E9588BEA1}" dt="2026-08-19T13:32:02.324" v="77" actId="478"/>
          <ac:picMkLst>
            <pc:docMk/>
            <pc:sldMk cId="0" sldId="282"/>
            <ac:picMk id="12" creationId="{00000000-0000-0000-0000-000000000000}"/>
          </ac:picMkLst>
        </pc:picChg>
        <pc:picChg chg="add mod">
          <ac:chgData name="JHEYSON FABIAN VILLAVISAN BUITRAGO" userId="e5ced5c2-d787-455d-b115-4f08a699b8c8" providerId="ADAL" clId="{6F85ADF9-4154-43EC-8FCF-2B8E9588BEA1}" dt="2026-08-19T13:32:03.855" v="78" actId="1076"/>
          <ac:picMkLst>
            <pc:docMk/>
            <pc:sldMk cId="0" sldId="282"/>
            <ac:picMk id="15" creationId="{363BD8A0-78C7-BC63-2A1C-706C42951F1A}"/>
          </ac:picMkLst>
        </pc:picChg>
      </pc:sldChg>
      <pc:sldChg chg="modSp mod">
        <pc:chgData name="JHEYSON FABIAN VILLAVISAN BUITRAGO" userId="e5ced5c2-d787-455d-b115-4f08a699b8c8" providerId="ADAL" clId="{6F85ADF9-4154-43EC-8FCF-2B8E9588BEA1}" dt="2026-08-19T13:35:25.921" v="81" actId="113"/>
        <pc:sldMkLst>
          <pc:docMk/>
          <pc:sldMk cId="0" sldId="285"/>
        </pc:sldMkLst>
        <pc:spChg chg="mod">
          <ac:chgData name="JHEYSON FABIAN VILLAVISAN BUITRAGO" userId="e5ced5c2-d787-455d-b115-4f08a699b8c8" providerId="ADAL" clId="{6F85ADF9-4154-43EC-8FCF-2B8E9588BEA1}" dt="2026-08-19T13:35:25.921" v="81" actId="113"/>
          <ac:spMkLst>
            <pc:docMk/>
            <pc:sldMk cId="0" sldId="285"/>
            <ac:spMk id="8" creationId="{00000000-0000-0000-0000-000000000000}"/>
          </ac:spMkLst>
        </pc:spChg>
      </pc:sldChg>
      <pc:sldChg chg="add">
        <pc:chgData name="JHEYSON FABIAN VILLAVISAN BUITRAGO" userId="e5ced5c2-d787-455d-b115-4f08a699b8c8" providerId="ADAL" clId="{6F85ADF9-4154-43EC-8FCF-2B8E9588BEA1}" dt="2026-08-19T12:54:52.057" v="8" actId="2890"/>
        <pc:sldMkLst>
          <pc:docMk/>
          <pc:sldMk cId="4190303976" sldId="301"/>
        </pc:sldMkLst>
      </pc:sldChg>
      <pc:sldChg chg="addSp delSp modSp add mod">
        <pc:chgData name="JHEYSON FABIAN VILLAVISAN BUITRAGO" userId="e5ced5c2-d787-455d-b115-4f08a699b8c8" providerId="ADAL" clId="{6F85ADF9-4154-43EC-8FCF-2B8E9588BEA1}" dt="2026-08-19T13:44:31.937" v="84" actId="20577"/>
        <pc:sldMkLst>
          <pc:docMk/>
          <pc:sldMk cId="3597290627" sldId="302"/>
        </pc:sldMkLst>
        <pc:spChg chg="mod">
          <ac:chgData name="JHEYSON FABIAN VILLAVISAN BUITRAGO" userId="e5ced5c2-d787-455d-b115-4f08a699b8c8" providerId="ADAL" clId="{6F85ADF9-4154-43EC-8FCF-2B8E9588BEA1}" dt="2026-08-19T13:44:31.937" v="84" actId="20577"/>
          <ac:spMkLst>
            <pc:docMk/>
            <pc:sldMk cId="3597290627" sldId="302"/>
            <ac:spMk id="9" creationId="{097D12ED-4B6A-4BF0-666A-7256BDE827C9}"/>
          </ac:spMkLst>
        </pc:spChg>
        <pc:picChg chg="add del">
          <ac:chgData name="JHEYSON FABIAN VILLAVISAN BUITRAGO" userId="e5ced5c2-d787-455d-b115-4f08a699b8c8" providerId="ADAL" clId="{6F85ADF9-4154-43EC-8FCF-2B8E9588BEA1}" dt="2026-08-19T13:06:03.929" v="36" actId="478"/>
          <ac:picMkLst>
            <pc:docMk/>
            <pc:sldMk cId="3597290627" sldId="302"/>
            <ac:picMk id="11" creationId="{8AB0E606-9A44-F1CF-4BED-3EAE65E56030}"/>
          </ac:picMkLst>
        </pc:picChg>
      </pc:sldChg>
      <pc:sldChg chg="delSp add mod">
        <pc:chgData name="JHEYSON FABIAN VILLAVISAN BUITRAGO" userId="e5ced5c2-d787-455d-b115-4f08a699b8c8" providerId="ADAL" clId="{6F85ADF9-4154-43EC-8FCF-2B8E9588BEA1}" dt="2026-08-19T13:32:08.591" v="80" actId="478"/>
        <pc:sldMkLst>
          <pc:docMk/>
          <pc:sldMk cId="3227001970" sldId="303"/>
        </pc:sldMkLst>
        <pc:picChg chg="del">
          <ac:chgData name="JHEYSON FABIAN VILLAVISAN BUITRAGO" userId="e5ced5c2-d787-455d-b115-4f08a699b8c8" providerId="ADAL" clId="{6F85ADF9-4154-43EC-8FCF-2B8E9588BEA1}" dt="2026-08-19T13:32:08.591" v="80" actId="478"/>
          <ac:picMkLst>
            <pc:docMk/>
            <pc:sldMk cId="3227001970" sldId="303"/>
            <ac:picMk id="15" creationId="{3DF60CC9-A00E-E785-2B1E-B913F3B4C1F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728655" cy="10515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INTRODUCCIÓN AL ESPACIO DE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42255" y="318211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728655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898989"/>
                </a:solidFill>
                <a:latin typeface="Arial"/>
              </a:rPr>
              <a:t>Estado, variables, vectores y comparación con el enfoque clásico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70448"/>
            <a:ext cx="7315200" cy="56692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898989"/>
                </a:solidFill>
                <a:latin typeface="Arial"/>
              </a:rPr>
              <a:t>Jheyson Fabian Villavisan Buitrago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28232"/>
            <a:ext cx="8229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98989"/>
                </a:solidFill>
                <a:latin typeface="Arial"/>
              </a:rPr>
              <a:t>Ingeniería Mecatrónica · Escuela Tecnológica Instituto Técnico Central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CONTENIDO DE LA UNIDAD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ESPACIO DE ESTADOS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47088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929384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19656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Del enfoque clásico al espacio de estados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Motivación, definición de estado y de variable de 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523744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39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496312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Los vectores del modelo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Vector de estados, de entradas y de salidas, con sus matrices A, B, C y 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00400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3282696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172968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Utilidad y comparación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Qué habilita el enfoque moderno y en qué se diferencia del clásico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DEL ENFOQUE CLÁSICO AL ESPACIO DE ESTADOS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2383"/>
            <a:ext cx="10872216" cy="142646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1.1  Introducción al espacio de estados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1.2  ¿Qué es un espacio de estado?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1.3  ¿Qué es una variable de estado?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Arial"/>
              </a:rPr>
              <a:t>POR QUÉ NO BASTA LA FUNCIÓN DE TRANSFERENCIA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El enfoque clásico describe un sistema por la relación entre </a:t>
            </a:r>
            <a:r>
              <a:rPr sz="1814" b="1">
                <a:solidFill>
                  <a:srgbClr val="000000"/>
                </a:solidFill>
                <a:latin typeface="Arial"/>
              </a:rPr>
              <a:t>una</a:t>
            </a:r>
            <a:r>
              <a:rPr sz="1814" b="0">
                <a:solidFill>
                  <a:srgbClr val="000000"/>
                </a:solidFill>
                <a:latin typeface="Arial"/>
              </a:rPr>
              <a:t> entrada y </a:t>
            </a:r>
            <a:r>
              <a:rPr sz="1814" b="1">
                <a:solidFill>
                  <a:srgbClr val="000000"/>
                </a:solidFill>
                <a:latin typeface="Arial"/>
              </a:rPr>
              <a:t>una</a:t>
            </a:r>
            <a:r>
              <a:rPr sz="1814" b="0">
                <a:solidFill>
                  <a:srgbClr val="000000"/>
                </a:solidFill>
                <a:latin typeface="Arial"/>
              </a:rPr>
              <a:t> salida, suponiendo condiciones iniciales nulas. Es potente, pero deja fuera todo lo que ocurre dentro del sistema.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552014"/>
          <a:ext cx="10872216" cy="226812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11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60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55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LIMITACIÓN DEL ENFOQUE CLÁSICO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QUÉ QUEDA SIN DESCRIBIR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Solo SISO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Plantas con varias entradas y salidas acopladas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 nulas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El arranque real desde un estado cualquiera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Solo lineal e invariante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Sistemas variantes en el tiempo o no lineales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Vista entrada–salida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Variables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internas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que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no se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miden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64734"/>
            <a:ext cx="10872216" cy="51401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El espacio de estados nace en los años sesenta con Kalman, empujado por el control óptimo y la llegada del computador digital.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 DÓNDE SALE LA CONDICIÓN INICIAL NULA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La restricción no es un capricho: aparece al aplicar la transformada de Laplace a las derivadas.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22195"/>
            <a:ext cx="10872216" cy="23271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322195"/>
            <a:ext cx="54864" cy="23271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44106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38a63dfdbe0960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885" y="2788539"/>
            <a:ext cx="2599182" cy="304038"/>
          </a:xfrm>
          <a:prstGeom prst="rect">
            <a:avLst/>
          </a:prstGeom>
        </p:spPr>
      </p:pic>
      <p:pic>
        <p:nvPicPr>
          <p:cNvPr id="13" name="Picture 12" descr="f_b21f75a9a7be4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383" y="3257168"/>
            <a:ext cx="3774186" cy="352044"/>
          </a:xfrm>
          <a:prstGeom prst="rect">
            <a:avLst/>
          </a:prstGeom>
        </p:spPr>
      </p:pic>
      <p:pic>
        <p:nvPicPr>
          <p:cNvPr id="14" name="Picture 13" descr="f_8aea926efbda4ab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1915" y="3773805"/>
            <a:ext cx="4405122" cy="5189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Para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poder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despejar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cociente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Y/U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hay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borrar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los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términos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condición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inicial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Esa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información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no se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pierde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se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pierde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modelo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UN MISMO SISTEMA, DOS DESCRIPCIONES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7873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60" b="0">
                <a:solidFill>
                  <a:srgbClr val="000000"/>
                </a:solidFill>
                <a:latin typeface="Arial"/>
              </a:rPr>
              <a:t>Masa-resorte-amortiguador con </a:t>
            </a:r>
            <a:r>
              <a:rPr sz="1860" b="0">
                <a:solidFill>
                  <a:srgbClr val="000000"/>
                </a:solidFill>
                <a:latin typeface="Consolas"/>
              </a:rPr>
              <a:t>m = 1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b = 3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k = 2</a:t>
            </a:r>
            <a:r>
              <a:rPr sz="186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9DD5C5A-F7CF-A01C-6064-A7B92814C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301" y="1976655"/>
            <a:ext cx="7404100" cy="35931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925E8-D317-6240-FDC0-0A07594FF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007010-3259-9930-FF6A-B2BA5CBDAF92}"/>
              </a:ext>
            </a:extLst>
          </p:cNvPr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49A809-4498-CDAA-E2D1-DCBC3CE67D74}"/>
              </a:ext>
            </a:extLst>
          </p:cNvPr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pic>
        <p:nvPicPr>
          <p:cNvPr id="4" name="Picture 3" descr="logo_etitc.png">
            <a:extLst>
              <a:ext uri="{FF2B5EF4-FFF2-40B4-BE49-F238E27FC236}">
                <a16:creationId xmlns:a16="http://schemas.microsoft.com/office/drawing/2014/main" id="{1427861E-296B-0BBF-AE8C-37B87EB2B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54DCAE-9FD1-591F-B014-1F6FA68A063D}"/>
              </a:ext>
            </a:extLst>
          </p:cNvPr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6433BC-E438-A338-8A38-0AC11E713E1C}"/>
              </a:ext>
            </a:extLst>
          </p:cNvPr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UN MISMO SISTEMA, DOS DESCRIPCIONES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4EB38-94F6-9EEF-00E3-6E81406DD03C}"/>
              </a:ext>
            </a:extLst>
          </p:cNvPr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EJEMPLO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1A6234-E101-8A17-A67A-E7FD2BFA82C4}"/>
              </a:ext>
            </a:extLst>
          </p:cNvPr>
          <p:cNvSpPr txBox="1"/>
          <p:nvPr/>
        </p:nvSpPr>
        <p:spPr>
          <a:xfrm>
            <a:off x="658368" y="1883664"/>
            <a:ext cx="10872216" cy="27873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60" b="0">
                <a:solidFill>
                  <a:srgbClr val="000000"/>
                </a:solidFill>
                <a:latin typeface="Arial"/>
              </a:rPr>
              <a:t>Masa-resorte-amortiguador con </a:t>
            </a:r>
            <a:r>
              <a:rPr sz="1860" b="0">
                <a:solidFill>
                  <a:srgbClr val="000000"/>
                </a:solidFill>
                <a:latin typeface="Consolas"/>
              </a:rPr>
              <a:t>m = 1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b = 3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k = 2</a:t>
            </a:r>
            <a:r>
              <a:rPr sz="186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19796E-01D1-4C35-DD65-C786ED7A43DC}"/>
              </a:ext>
            </a:extLst>
          </p:cNvPr>
          <p:cNvSpPr/>
          <p:nvPr/>
        </p:nvSpPr>
        <p:spPr>
          <a:xfrm>
            <a:off x="658368" y="2294077"/>
            <a:ext cx="10872216" cy="247368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1F02F4-4E8D-9D80-80B0-A2118DF51880}"/>
              </a:ext>
            </a:extLst>
          </p:cNvPr>
          <p:cNvSpPr/>
          <p:nvPr/>
        </p:nvSpPr>
        <p:spPr>
          <a:xfrm>
            <a:off x="658368" y="2294077"/>
            <a:ext cx="54864" cy="247368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E2B216-D061-43FA-5808-1BD0E0D7043A}"/>
              </a:ext>
            </a:extLst>
          </p:cNvPr>
          <p:cNvSpPr txBox="1"/>
          <p:nvPr/>
        </p:nvSpPr>
        <p:spPr>
          <a:xfrm>
            <a:off x="1115568" y="2401062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ba8b8c85b1eebda3.png">
            <a:extLst>
              <a:ext uri="{FF2B5EF4-FFF2-40B4-BE49-F238E27FC236}">
                <a16:creationId xmlns:a16="http://schemas.microsoft.com/office/drawing/2014/main" id="{36BD2618-7A74-45F7-FE6E-367B2B64C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068" y="2741218"/>
            <a:ext cx="4688814" cy="275691"/>
          </a:xfrm>
          <a:prstGeom prst="rect">
            <a:avLst/>
          </a:prstGeom>
        </p:spPr>
      </p:pic>
      <p:pic>
        <p:nvPicPr>
          <p:cNvPr id="13" name="Picture 12" descr="f_293206f5cc8f0e33.png">
            <a:extLst>
              <a:ext uri="{FF2B5EF4-FFF2-40B4-BE49-F238E27FC236}">
                <a16:creationId xmlns:a16="http://schemas.microsoft.com/office/drawing/2014/main" id="{D63C144C-F297-8405-599A-A606DF6D7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971" y="3165043"/>
            <a:ext cx="3047009" cy="427939"/>
          </a:xfrm>
          <a:prstGeom prst="rect">
            <a:avLst/>
          </a:prstGeom>
        </p:spPr>
      </p:pic>
      <p:pic>
        <p:nvPicPr>
          <p:cNvPr id="14" name="Picture 13" descr="f_861b5e556cd0504b.png">
            <a:extLst>
              <a:ext uri="{FF2B5EF4-FFF2-40B4-BE49-F238E27FC236}">
                <a16:creationId xmlns:a16="http://schemas.microsoft.com/office/drawing/2014/main" id="{34ECC82C-344C-885A-152D-9A23F73C80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7292" y="3741115"/>
            <a:ext cx="4314367" cy="7056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F27F64E-A55E-EB34-191E-D94F5B69F48A}"/>
              </a:ext>
            </a:extLst>
          </p:cNvPr>
          <p:cNvSpPr txBox="1"/>
          <p:nvPr/>
        </p:nvSpPr>
        <p:spPr>
          <a:xfrm>
            <a:off x="658368" y="5044846"/>
            <a:ext cx="5844032" cy="84946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60" b="0" dirty="0">
                <a:solidFill>
                  <a:srgbClr val="000000"/>
                </a:solidFill>
                <a:latin typeface="Arial"/>
              </a:rPr>
              <a:t>Los dos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modelos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describen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misma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planta,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pero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segundo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también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responde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pasa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si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la masa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arranca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desplazada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y con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velocidad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B5D7F633-B6B2-51B1-C71E-A95C25EF52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9559" y="3990909"/>
            <a:ext cx="4196111" cy="2036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03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INFORMACIÓN SE PIERDE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carro de masa unitaria obedece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. En </a:t>
            </a:r>
            <a:r>
              <a:rPr sz="1950" b="0">
                <a:solidFill>
                  <a:srgbClr val="000000"/>
                </a:solidFill>
                <a:latin typeface="Consolas"/>
              </a:rPr>
              <a:t>t = 0</a:t>
            </a:r>
            <a:r>
              <a:rPr sz="1950" b="0">
                <a:solidFill>
                  <a:srgbClr val="000000"/>
                </a:solidFill>
                <a:latin typeface="Arial"/>
              </a:rPr>
              <a:t> el carro está desplazado </a:t>
            </a:r>
            <a:r>
              <a:rPr sz="1950" b="0">
                <a:solidFill>
                  <a:srgbClr val="000000"/>
                </a:solidFill>
                <a:latin typeface="Consolas"/>
              </a:rPr>
              <a:t>y(0) = 0,5</a:t>
            </a:r>
            <a:r>
              <a:rPr sz="1950" b="0">
                <a:solidFill>
                  <a:srgbClr val="000000"/>
                </a:solidFill>
                <a:latin typeface="Arial"/>
              </a:rPr>
              <a:t> m y quieto, </a:t>
            </a:r>
            <a:r>
              <a:rPr sz="1950" b="0">
                <a:solidFill>
                  <a:srgbClr val="000000"/>
                </a:solidFill>
                <a:latin typeface="Consolas"/>
              </a:rPr>
              <a:t>ẏ(0) = 0</a:t>
            </a:r>
            <a:r>
              <a:rPr sz="1950" b="0">
                <a:solidFill>
                  <a:srgbClr val="000000"/>
                </a:solidFill>
                <a:latin typeface="Arial"/>
              </a:rPr>
              <a:t>,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u = 0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a)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predice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G(s) = 1/(s²+3s+2)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para la salida?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b)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hace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realmente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carro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c)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debe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conocerse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para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predecirlo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?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57D5423-AD18-171C-244A-574DF42EE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764" y="3172872"/>
            <a:ext cx="5873135" cy="26774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POR QUÉ EL ESPACIO DE ESTADOS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función de transferencia se equivoca porque </a:t>
            </a:r>
            <a:r>
              <a:rPr sz="1850" b="1">
                <a:solidFill>
                  <a:srgbClr val="000000"/>
                </a:solidFill>
                <a:latin typeface="Arial"/>
              </a:rPr>
              <a:t>descarta el estado inicial por construcción</a:t>
            </a:r>
            <a:r>
              <a:rPr sz="1850" b="0">
                <a:solidFill>
                  <a:srgbClr val="000000"/>
                </a:solidFill>
                <a:latin typeface="Arial"/>
              </a:rPr>
              <a:t>. El espacio de estados lo lleva como dato explícito del problema.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59467F9-AF96-E1C9-C2FA-2B3CDE419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588" y="1934935"/>
            <a:ext cx="6349775" cy="2988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842AA-181D-A0B0-686C-536B58D2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A16811-DCA2-24F7-B526-C5E76CDC1411}"/>
              </a:ext>
            </a:extLst>
          </p:cNvPr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C82793-193E-FA44-BEB7-A580CC36810F}"/>
              </a:ext>
            </a:extLst>
          </p:cNvPr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logo_etitc.png">
            <a:extLst>
              <a:ext uri="{FF2B5EF4-FFF2-40B4-BE49-F238E27FC236}">
                <a16:creationId xmlns:a16="http://schemas.microsoft.com/office/drawing/2014/main" id="{50709D91-289D-51A3-5759-9C821EB8E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483E4C-BB0E-DD58-7894-087A369D89B3}"/>
              </a:ext>
            </a:extLst>
          </p:cNvPr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2CBA3B-4A00-B381-4DC6-389F4677DD4F}"/>
              </a:ext>
            </a:extLst>
          </p:cNvPr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3AD9C-DBD8-715E-7DF0-98AB6ABB17FC}"/>
              </a:ext>
            </a:extLst>
          </p:cNvPr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POR QUÉ EL ESPACIO DE ESTADOS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D290881-05C0-E686-BAAB-7E7072F030D6}"/>
              </a:ext>
            </a:extLst>
          </p:cNvPr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86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Predicción de G(s)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y(t) = 0 para todo t: sin entrada no hay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Comportamiento real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resorte devuelve el carro al origen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Qué hace falta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000000"/>
                          </a:solidFill>
                          <a:latin typeface="Arial"/>
                        </a:rPr>
                        <a:t>el </a:t>
                      </a:r>
                      <a:r>
                        <a:rPr sz="16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  <a:r>
                        <a:rPr sz="1600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6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inicial</a:t>
                      </a:r>
                      <a:r>
                        <a:rPr sz="1600" b="0" dirty="0">
                          <a:solidFill>
                            <a:srgbClr val="000000"/>
                          </a:solidFill>
                          <a:latin typeface="Arial"/>
                        </a:rPr>
                        <a:t>: </a:t>
                      </a:r>
                      <a:r>
                        <a:rPr sz="16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posición</a:t>
                      </a:r>
                      <a:r>
                        <a:rPr sz="1600" b="0" dirty="0">
                          <a:solidFill>
                            <a:srgbClr val="000000"/>
                          </a:solidFill>
                          <a:latin typeface="Arial"/>
                        </a:rPr>
                        <a:t> y </a:t>
                      </a:r>
                      <a:r>
                        <a:rPr sz="16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velocidad</a:t>
                      </a:r>
                      <a:endParaRPr sz="1600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97D12ED-4B6A-4BF0-666A-7256BDE827C9}"/>
              </a:ext>
            </a:extLst>
          </p:cNvPr>
          <p:cNvSpPr txBox="1"/>
          <p:nvPr/>
        </p:nvSpPr>
        <p:spPr>
          <a:xfrm>
            <a:off x="658368" y="5005069"/>
            <a:ext cx="10872216" cy="606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función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transferencia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equivoca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porque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descarta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el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inicial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lo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lleva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como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dato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explícito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problema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7290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ESTADO Y EL ESPACIO QUE LO CONTIENE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EXPLICACIÓN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1449324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144932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993392"/>
            <a:ext cx="1041501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DEFINICIÓN DE ESTADO (OGATA)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267712"/>
            <a:ext cx="10415016" cy="86793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 dirty="0">
                <a:solidFill>
                  <a:srgbClr val="000000"/>
                </a:solidFill>
                <a:latin typeface="Arial"/>
              </a:rPr>
              <a:t>El </a:t>
            </a:r>
            <a:r>
              <a:rPr sz="1800" b="1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de un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es el conjunto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más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pequeño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de variables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tal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conocido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su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valor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1" u="sng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/>
              </a:rPr>
              <a:t>t₀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conocida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la entrada para 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t ≥ t₀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queda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determinado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por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completo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comportamiento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para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todo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t ≥ t₀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909060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es 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dimensiones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cuyos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ejes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son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esas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variables. Un punto de ese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es un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; la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evolución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es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trayectoria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dentro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él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606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Dos palabras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cargan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toda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definición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</a:t>
            </a:r>
            <a:r>
              <a:rPr sz="185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más</a:t>
            </a:r>
            <a:r>
              <a:rPr sz="185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</a:t>
            </a:r>
            <a:r>
              <a:rPr sz="185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pequeño</a:t>
            </a:r>
            <a:r>
              <a:rPr sz="1850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y </a:t>
            </a:r>
            <a:r>
              <a:rPr sz="185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determinado</a:t>
            </a:r>
            <a:r>
              <a:rPr sz="185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</a:t>
            </a:r>
            <a:r>
              <a:rPr sz="185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por</a:t>
            </a:r>
            <a:r>
              <a:rPr sz="1850" b="1" i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</a:t>
            </a:r>
            <a:r>
              <a:rPr sz="1850" b="1" i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completo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Sin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primera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sobran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variables; sin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segunda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faltan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Arial"/>
              </a:rPr>
              <a:t>POR QUÉ LA DIMENSIÓN ES EL ORDEN DEL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Cada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integrador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guarda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un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número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hay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conocer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para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poder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seguir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evolución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hacia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adelante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14422"/>
            <a:ext cx="10872216" cy="205740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614422"/>
            <a:ext cx="54864" cy="205740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733294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39d5b7e51ee4e8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907" y="3080766"/>
            <a:ext cx="2247138" cy="297180"/>
          </a:xfrm>
          <a:prstGeom prst="rect">
            <a:avLst/>
          </a:prstGeom>
        </p:spPr>
      </p:pic>
      <p:pic>
        <p:nvPicPr>
          <p:cNvPr id="13" name="Picture 12" descr="f_b11d0d7c989ac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4321" y="3542538"/>
            <a:ext cx="2480310" cy="297180"/>
          </a:xfrm>
          <a:prstGeom prst="rect">
            <a:avLst/>
          </a:prstGeom>
        </p:spPr>
      </p:pic>
      <p:pic>
        <p:nvPicPr>
          <p:cNvPr id="14" name="Picture 13" descr="f_3a39661310085da7.png"/>
          <p:cNvPicPr>
            <a:picLocks noChangeAspect="1"/>
          </p:cNvPicPr>
          <p:nvPr/>
        </p:nvPicPr>
        <p:blipFill>
          <a:blip r:embed="rId5"/>
          <a:srcRect l="36854"/>
          <a:stretch>
            <a:fillRect/>
          </a:stretch>
        </p:blipFill>
        <p:spPr>
          <a:xfrm>
            <a:off x="4574540" y="3980941"/>
            <a:ext cx="3042920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606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Una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ecuación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orden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>
                <a:solidFill>
                  <a:srgbClr val="000000"/>
                </a:solidFill>
                <a:latin typeface="Consolas"/>
              </a:rPr>
              <a:t>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necesita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>
                <a:solidFill>
                  <a:srgbClr val="000000"/>
                </a:solidFill>
                <a:latin typeface="Consolas"/>
              </a:rPr>
              <a:t>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condiciones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iniciales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, luego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su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tiene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dimensión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Orden del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número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integradores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dimensión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son lo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mismo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17" name="Picture 12" descr="f_b21f75a9a7be4786.png">
            <a:extLst>
              <a:ext uri="{FF2B5EF4-FFF2-40B4-BE49-F238E27FC236}">
                <a16:creationId xmlns:a16="http://schemas.microsoft.com/office/drawing/2014/main" id="{B185310A-B22D-DD21-F53E-FE2AC768E1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7383" y="4356354"/>
            <a:ext cx="3774186" cy="3520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00000"/>
                </a:solidFill>
                <a:latin typeface="Arial"/>
              </a:rPr>
              <a:t>EL PLANO DE FASE DE UN SISTEMA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952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 dirty="0">
                <a:solidFill>
                  <a:srgbClr val="000000"/>
                </a:solidFill>
                <a:latin typeface="Arial"/>
              </a:rPr>
              <a:t>Para el masa-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resorte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-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amortiguador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14" b="1" dirty="0">
                <a:solidFill>
                  <a:srgbClr val="000000"/>
                </a:solidFill>
                <a:latin typeface="Arial"/>
              </a:rPr>
              <a:t>el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814" b="1" dirty="0">
                <a:solidFill>
                  <a:srgbClr val="000000"/>
                </a:solidFill>
                <a:latin typeface="Arial"/>
              </a:rPr>
              <a:t> de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814" b="1" dirty="0">
                <a:solidFill>
                  <a:srgbClr val="000000"/>
                </a:solidFill>
                <a:latin typeface="Arial"/>
              </a:rPr>
              <a:t> es 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un </a:t>
            </a:r>
            <a:r>
              <a:rPr sz="1814" b="1" dirty="0">
                <a:solidFill>
                  <a:srgbClr val="000000"/>
                </a:solidFill>
                <a:latin typeface="Arial"/>
              </a:rPr>
              <a:t>plano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: un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eje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para la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otro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para la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velocidad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552014"/>
          <a:ext cx="10872216" cy="226812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55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INTERPRETACIÓN GEOMÉTRICA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Un punto (y, ẏ)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un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posible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del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carro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El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origen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el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equilibrio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: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quieto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en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la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referencia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Una curva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la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trayectoria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que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sigue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el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sistema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en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el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tiempo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Curva que entra al origen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sistema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estable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64734"/>
            <a:ext cx="10872216" cy="51401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 dirty="0">
                <a:solidFill>
                  <a:srgbClr val="000000"/>
                </a:solidFill>
                <a:latin typeface="Arial"/>
              </a:rPr>
              <a:t>Ver el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como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un punto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se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mueve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por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un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es lo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permite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después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i="1" dirty="0" err="1">
                <a:solidFill>
                  <a:srgbClr val="000000"/>
                </a:solidFill>
                <a:latin typeface="Arial"/>
              </a:rPr>
              <a:t>elegir</a:t>
            </a:r>
            <a:r>
              <a:rPr sz="1714" b="0" i="1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i="1" dirty="0" err="1">
                <a:solidFill>
                  <a:srgbClr val="000000"/>
                </a:solidFill>
                <a:latin typeface="Arial"/>
              </a:rPr>
              <a:t>hacia</a:t>
            </a:r>
            <a:r>
              <a:rPr sz="1714" b="0" i="1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i="1" dirty="0" err="1">
                <a:solidFill>
                  <a:srgbClr val="000000"/>
                </a:solidFill>
                <a:latin typeface="Arial"/>
              </a:rPr>
              <a:t>dónde</a:t>
            </a:r>
            <a:r>
              <a:rPr sz="1714" b="0" i="1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i="1" dirty="0" err="1">
                <a:solidFill>
                  <a:srgbClr val="000000"/>
                </a:solidFill>
                <a:latin typeface="Arial"/>
              </a:rPr>
              <a:t>debe</a:t>
            </a:r>
            <a:r>
              <a:rPr sz="1714" b="0" i="1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i="1" dirty="0" err="1">
                <a:solidFill>
                  <a:srgbClr val="000000"/>
                </a:solidFill>
                <a:latin typeface="Arial"/>
              </a:rPr>
              <a:t>moverse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: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eso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es el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diseño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por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ubicación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de polos.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DETERMINE LA DIMENSIÓN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337015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 err="1">
                <a:solidFill>
                  <a:srgbClr val="000000"/>
                </a:solidFill>
                <a:latin typeface="Arial"/>
              </a:rPr>
              <a:t>Indique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dimensión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espacio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cada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justifique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250606"/>
              </p:ext>
            </p:extLst>
          </p:nvPr>
        </p:nvGraphicFramePr>
        <p:xfrm>
          <a:off x="658368" y="2733675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90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5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SISTEMA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Circuito RC serie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000000"/>
                          </a:solidFill>
                          <a:latin typeface="Consolas"/>
                        </a:rPr>
                        <a:t>Circuito RLC </a:t>
                      </a:r>
                      <a:r>
                        <a:rPr sz="1600" b="0" dirty="0" err="1">
                          <a:solidFill>
                            <a:srgbClr val="000000"/>
                          </a:solidFill>
                          <a:latin typeface="Consolas"/>
                        </a:rPr>
                        <a:t>serie</a:t>
                      </a:r>
                      <a:endParaRPr sz="1600" b="0" dirty="0">
                        <a:solidFill>
                          <a:srgbClr val="000000"/>
                        </a:solidFill>
                        <a:latin typeface="Consolas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000000"/>
                          </a:solidFill>
                          <a:latin typeface="Consolas"/>
                        </a:rPr>
                        <a:t>y''' + 4y'' + 5y' + 2y = 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 dirty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ESPACIO DE ESTADOS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062412"/>
              </p:ext>
            </p:extLst>
          </p:nvPr>
        </p:nvGraphicFramePr>
        <p:xfrm>
          <a:off x="658368" y="1883664"/>
          <a:ext cx="10872214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854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5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1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SISTEMA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DIM.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RAZÓN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RC serie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un solo almacenador: el capacitor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RLC serie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capacitor e inductor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000000"/>
                          </a:solidFill>
                          <a:latin typeface="Consolas"/>
                        </a:rPr>
                        <a:t>y''' + 4y'' + 5y' + 2y = 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ecuación</a:t>
                      </a:r>
                      <a:r>
                        <a:rPr sz="1500" b="0" dirty="0">
                          <a:solidFill>
                            <a:srgbClr val="000000"/>
                          </a:solidFill>
                          <a:latin typeface="Arial"/>
                        </a:rPr>
                        <a:t> de </a:t>
                      </a: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tercer</a:t>
                      </a:r>
                      <a:r>
                        <a:rPr sz="1500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orden</a:t>
                      </a:r>
                      <a:endParaRPr sz="1500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regla práctica: cuente los elementos que </a:t>
            </a:r>
            <a:r>
              <a:rPr sz="1850" b="1">
                <a:solidFill>
                  <a:srgbClr val="000000"/>
                </a:solidFill>
                <a:latin typeface="Arial"/>
              </a:rPr>
              <a:t>almacenan energía</a:t>
            </a:r>
            <a:r>
              <a:rPr sz="1850" b="0">
                <a:solidFill>
                  <a:srgbClr val="000000"/>
                </a:solidFill>
                <a:latin typeface="Arial"/>
              </a:rPr>
              <a:t>, o equivalentemente el orden de la ecuación diferencial.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dirty="0">
                <a:solidFill>
                  <a:srgbClr val="000000"/>
                </a:solidFill>
                <a:latin typeface="Arial"/>
              </a:rPr>
              <a:t>LAS VARIABLES QUE GUARDAN LA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Una </a:t>
            </a:r>
            <a:r>
              <a:rPr sz="1950" b="1">
                <a:solidFill>
                  <a:srgbClr val="000000"/>
                </a:solidFill>
                <a:latin typeface="Arial"/>
              </a:rPr>
              <a:t>variable de estado</a:t>
            </a:r>
            <a:r>
              <a:rPr sz="1950" b="0">
                <a:solidFill>
                  <a:srgbClr val="000000"/>
                </a:solidFill>
                <a:latin typeface="Arial"/>
              </a:rPr>
              <a:t> es cada una de las variables del conjunto mínimo que define el estado. En un sistema físico corresponden casi siempre a los elementos que </a:t>
            </a:r>
            <a:r>
              <a:rPr sz="1950" b="1">
                <a:solidFill>
                  <a:srgbClr val="000000"/>
                </a:solidFill>
                <a:latin typeface="Arial"/>
              </a:rPr>
              <a:t>almacenan energía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14422"/>
          <a:ext cx="10872215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7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8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ENERGÍA QUE ALMACENA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VARIABLE DE ESTADO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Masa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cinética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velocidad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Resorte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potencial elástica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deformación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Inductor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campo magnético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corriente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Capacitor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campo eléctrico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voltaje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No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tienen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por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ser magnitudes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medibles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ni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tener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sentido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físico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son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elección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matemática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00000"/>
                </a:solidFill>
                <a:latin typeface="Arial"/>
              </a:rPr>
              <a:t>CADA ALMACENADOR APORTA UNA ECUACIÓN DE PRIMER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5747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60" b="0">
                <a:solidFill>
                  <a:srgbClr val="000000"/>
                </a:solidFill>
                <a:latin typeface="Arial"/>
              </a:rPr>
              <a:t>La razón es que la ley constitutiva de un almacenador relaciona una derivada con el resto de variables: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72816"/>
            <a:ext cx="10872216" cy="2284399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72816"/>
            <a:ext cx="54864" cy="2284399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679801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836200d8955c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619" y="3019958"/>
            <a:ext cx="2283714" cy="397078"/>
          </a:xfrm>
          <a:prstGeom prst="rect">
            <a:avLst/>
          </a:prstGeom>
        </p:spPr>
      </p:pic>
      <p:pic>
        <p:nvPicPr>
          <p:cNvPr id="13" name="Picture 12" descr="f_9a80c893403a63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02" y="3565169"/>
            <a:ext cx="2542946" cy="423824"/>
          </a:xfrm>
          <a:prstGeom prst="rect">
            <a:avLst/>
          </a:prstGeom>
        </p:spPr>
      </p:pic>
      <p:pic>
        <p:nvPicPr>
          <p:cNvPr id="14" name="Picture 13" descr="f_50f991be83d860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4795" y="4137126"/>
            <a:ext cx="2199360" cy="3991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44846"/>
            <a:ext cx="10872216" cy="52750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60" b="0">
                <a:solidFill>
                  <a:srgbClr val="000000"/>
                </a:solidFill>
                <a:latin typeface="Consolas"/>
              </a:rPr>
              <a:t>n</a:t>
            </a:r>
            <a:r>
              <a:rPr sz="1760" b="0">
                <a:solidFill>
                  <a:srgbClr val="000000"/>
                </a:solidFill>
                <a:latin typeface="Arial"/>
              </a:rPr>
              <a:t> almacenadores producen </a:t>
            </a:r>
            <a:r>
              <a:rPr sz="1760" b="0">
                <a:solidFill>
                  <a:srgbClr val="000000"/>
                </a:solidFill>
                <a:latin typeface="Consolas"/>
              </a:rPr>
              <a:t>n</a:t>
            </a:r>
            <a:r>
              <a:rPr sz="1760" b="0">
                <a:solidFill>
                  <a:srgbClr val="000000"/>
                </a:solidFill>
                <a:latin typeface="Arial"/>
              </a:rPr>
              <a:t> ecuaciones de primer orden acopladas, que es exactamente la forma </a:t>
            </a:r>
            <a:r>
              <a:rPr sz="1760" b="0">
                <a:solidFill>
                  <a:srgbClr val="000000"/>
                </a:solidFill>
                <a:latin typeface="Consolas"/>
              </a:rPr>
              <a:t>ẋ = f(x, u)</a:t>
            </a:r>
            <a:r>
              <a:rPr sz="176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VARIABLES DE ESTADO DE UN CIRCUITO RLC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Circuito RLC serie con </a:t>
            </a:r>
            <a:r>
              <a:rPr sz="1814" b="0">
                <a:solidFill>
                  <a:srgbClr val="000000"/>
                </a:solidFill>
                <a:latin typeface="Consolas"/>
              </a:rPr>
              <a:t>L = 1 H</a:t>
            </a:r>
            <a:r>
              <a:rPr sz="1814" b="0">
                <a:solidFill>
                  <a:srgbClr val="000000"/>
                </a:solidFill>
                <a:latin typeface="Arial"/>
              </a:rPr>
              <a:t>, </a:t>
            </a:r>
            <a:r>
              <a:rPr sz="1814" b="0">
                <a:solidFill>
                  <a:srgbClr val="000000"/>
                </a:solidFill>
                <a:latin typeface="Consolas"/>
              </a:rPr>
              <a:t>R = 3 Ω</a:t>
            </a:r>
            <a:r>
              <a:rPr sz="1814" b="0">
                <a:solidFill>
                  <a:srgbClr val="000000"/>
                </a:solidFill>
                <a:latin typeface="Arial"/>
              </a:rPr>
              <a:t>, </a:t>
            </a:r>
            <a:r>
              <a:rPr sz="1814" b="0">
                <a:solidFill>
                  <a:srgbClr val="000000"/>
                </a:solidFill>
                <a:latin typeface="Consolas"/>
              </a:rPr>
              <a:t>C = 0,5 F</a:t>
            </a:r>
            <a:r>
              <a:rPr sz="1814" b="0">
                <a:solidFill>
                  <a:srgbClr val="000000"/>
                </a:solidFill>
                <a:latin typeface="Arial"/>
              </a:rPr>
              <a:t> y fuente </a:t>
            </a:r>
            <a:r>
              <a:rPr sz="1814" b="0">
                <a:solidFill>
                  <a:srgbClr val="000000"/>
                </a:solidFill>
                <a:latin typeface="Consolas"/>
              </a:rPr>
              <a:t>e(t)</a:t>
            </a:r>
            <a:r>
              <a:rPr sz="1814" b="0">
                <a:solidFill>
                  <a:srgbClr val="000000"/>
                </a:solidFill>
                <a:latin typeface="Arial"/>
              </a:rPr>
              <a:t>. Se eligen la corriente del inductor y el voltaje del capacitor: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52014"/>
            <a:ext cx="10872216" cy="2464193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52014"/>
            <a:ext cx="54864" cy="2464193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653055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6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b94c662501e9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891" y="2989554"/>
            <a:ext cx="4331169" cy="376961"/>
          </a:xfrm>
          <a:prstGeom prst="rect">
            <a:avLst/>
          </a:prstGeom>
        </p:spPr>
      </p:pic>
      <p:pic>
        <p:nvPicPr>
          <p:cNvPr id="13" name="Picture 12" descr="f_f970d79c339086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083" y="3506419"/>
            <a:ext cx="2158784" cy="400278"/>
          </a:xfrm>
          <a:prstGeom prst="rect">
            <a:avLst/>
          </a:prstGeom>
        </p:spPr>
      </p:pic>
      <p:pic>
        <p:nvPicPr>
          <p:cNvPr id="14" name="Picture 13" descr="f_2f6fcdb222eafb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6264" y="4046601"/>
            <a:ext cx="1556423" cy="6664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321744"/>
            <a:ext cx="10872216" cy="25700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Los autovalores de </a:t>
            </a:r>
            <a:r>
              <a:rPr sz="1714" b="0">
                <a:solidFill>
                  <a:srgbClr val="000000"/>
                </a:solidFill>
                <a:latin typeface="Consolas"/>
              </a:rPr>
              <a:t>A</a:t>
            </a:r>
            <a:r>
              <a:rPr sz="1714" b="0">
                <a:solidFill>
                  <a:srgbClr val="000000"/>
                </a:solidFill>
                <a:latin typeface="Arial"/>
              </a:rPr>
              <a:t> son −1 y −2: la elección de variables no cambia la dinámica, solo la forma de escribirla.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IDENTIFIQUE LAS VARIABLES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carro de masa </a:t>
            </a:r>
            <a:r>
              <a:rPr sz="1950" b="0">
                <a:solidFill>
                  <a:srgbClr val="000000"/>
                </a:solidFill>
                <a:latin typeface="Consolas"/>
              </a:rPr>
              <a:t>m</a:t>
            </a:r>
            <a:r>
              <a:rPr sz="1950" b="0">
                <a:solidFill>
                  <a:srgbClr val="000000"/>
                </a:solidFill>
                <a:latin typeface="Arial"/>
              </a:rPr>
              <a:t> está unido a la pared por un resorte </a:t>
            </a:r>
            <a:r>
              <a:rPr sz="1950" b="0">
                <a:solidFill>
                  <a:srgbClr val="000000"/>
                </a:solidFill>
                <a:latin typeface="Consolas"/>
              </a:rPr>
              <a:t>k</a:t>
            </a:r>
            <a:r>
              <a:rPr sz="1950" b="0">
                <a:solidFill>
                  <a:srgbClr val="000000"/>
                </a:solidFill>
                <a:latin typeface="Arial"/>
              </a:rPr>
              <a:t> y un amortiguador </a:t>
            </a:r>
            <a:r>
              <a:rPr sz="1950" b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>
                <a:solidFill>
                  <a:srgbClr val="000000"/>
                </a:solidFill>
                <a:latin typeface="Arial"/>
              </a:rPr>
              <a:t>, y recibe una fuerza </a:t>
            </a:r>
            <a:r>
              <a:rPr sz="1950" b="0">
                <a:solidFill>
                  <a:srgbClr val="000000"/>
                </a:solidFill>
                <a:latin typeface="Consolas"/>
              </a:rPr>
              <a:t>u(t)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a)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Cuántos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elementos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almacenan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energía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b)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variables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propondría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c) ¿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Sería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válido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elegir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y la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aceleración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?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Justifique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VARIABLE DE ESTADO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6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Almacenadores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dos: la masa y el resorte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Variables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posición y velocidad del carro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¿Posición y aceleración?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no: la aceleración se despeja de las otras 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aceleración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no es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independiente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ÿ = (u − </a:t>
            </a:r>
            <a:r>
              <a:rPr sz="1850" b="0" dirty="0" err="1">
                <a:solidFill>
                  <a:srgbClr val="000000"/>
                </a:solidFill>
                <a:latin typeface="Consolas"/>
              </a:rPr>
              <a:t>bẏ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 − </a:t>
            </a:r>
            <a:r>
              <a:rPr sz="1850" b="0" dirty="0" err="1">
                <a:solidFill>
                  <a:srgbClr val="000000"/>
                </a:solidFill>
                <a:latin typeface="Consolas"/>
              </a:rPr>
              <a:t>ky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)/m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Incluirla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rompería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condición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i="1" dirty="0">
                <a:solidFill>
                  <a:srgbClr val="000000"/>
                </a:solidFill>
                <a:latin typeface="Arial"/>
              </a:rPr>
              <a:t>conjunto </a:t>
            </a:r>
            <a:r>
              <a:rPr sz="1850" b="0" i="1" dirty="0" err="1">
                <a:solidFill>
                  <a:srgbClr val="000000"/>
                </a:solidFill>
                <a:latin typeface="Arial"/>
              </a:rPr>
              <a:t>mínimo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definición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LOS VECTORES DEL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2383"/>
            <a:ext cx="10872216" cy="142646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 dirty="0">
                <a:solidFill>
                  <a:srgbClr val="000000"/>
                </a:solidFill>
                <a:latin typeface="Arial"/>
              </a:rPr>
              <a:t>2.1  ¿</a:t>
            </a:r>
            <a:r>
              <a:rPr sz="190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00" b="0" dirty="0">
                <a:solidFill>
                  <a:srgbClr val="000000"/>
                </a:solidFill>
                <a:latin typeface="Arial"/>
              </a:rPr>
              <a:t> es un vector de </a:t>
            </a:r>
            <a:r>
              <a:rPr sz="1900" b="0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900" b="0" dirty="0">
                <a:solidFill>
                  <a:srgbClr val="000000"/>
                </a:solidFill>
                <a:latin typeface="Arial"/>
              </a:rPr>
              <a:t>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 dirty="0">
                <a:solidFill>
                  <a:srgbClr val="000000"/>
                </a:solidFill>
                <a:latin typeface="Arial"/>
              </a:rPr>
              <a:t>2.2  ¿</a:t>
            </a:r>
            <a:r>
              <a:rPr sz="190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00" b="0" dirty="0">
                <a:solidFill>
                  <a:srgbClr val="000000"/>
                </a:solidFill>
                <a:latin typeface="Arial"/>
              </a:rPr>
              <a:t> es un vector de entradas?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 dirty="0">
                <a:solidFill>
                  <a:srgbClr val="000000"/>
                </a:solidFill>
                <a:latin typeface="Arial"/>
              </a:rPr>
              <a:t>2.3  ¿</a:t>
            </a:r>
            <a:r>
              <a:rPr sz="190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00" b="0" dirty="0">
                <a:solidFill>
                  <a:srgbClr val="000000"/>
                </a:solidFill>
                <a:latin typeface="Arial"/>
              </a:rPr>
              <a:t> es un vector de </a:t>
            </a:r>
            <a:r>
              <a:rPr sz="1900" b="0" dirty="0" err="1">
                <a:solidFill>
                  <a:srgbClr val="000000"/>
                </a:solidFill>
                <a:latin typeface="Arial"/>
              </a:rPr>
              <a:t>salidas</a:t>
            </a:r>
            <a:r>
              <a:rPr sz="1900" b="0" dirty="0">
                <a:solidFill>
                  <a:srgbClr val="000000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LAS N VARIABLES EN UNA SOLA COLUMNA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El </a:t>
            </a:r>
            <a:r>
              <a:rPr sz="1814" b="1">
                <a:solidFill>
                  <a:srgbClr val="000000"/>
                </a:solidFill>
                <a:latin typeface="Arial"/>
              </a:rPr>
              <a:t>vector de estados</a:t>
            </a:r>
            <a:r>
              <a:rPr sz="1814" b="0">
                <a:solidFill>
                  <a:srgbClr val="000000"/>
                </a:solidFill>
                <a:latin typeface="Arial"/>
              </a:rPr>
              <a:t> apila las </a:t>
            </a:r>
            <a:r>
              <a:rPr sz="1814" b="0">
                <a:solidFill>
                  <a:srgbClr val="000000"/>
                </a:solidFill>
                <a:latin typeface="Consolas"/>
              </a:rPr>
              <a:t>n</a:t>
            </a:r>
            <a:r>
              <a:rPr sz="1814" b="0">
                <a:solidFill>
                  <a:srgbClr val="000000"/>
                </a:solidFill>
                <a:latin typeface="Arial"/>
              </a:rPr>
              <a:t> variables de estado en una matriz columna, para poder escribir todo el sistema con una sola ecuación: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52014"/>
            <a:ext cx="10872216" cy="1863432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52014"/>
            <a:ext cx="54864" cy="1863432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fc71cd4563d747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7983" y="2785186"/>
            <a:ext cx="3312985" cy="1397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4570895"/>
            <a:ext cx="10872216" cy="5952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 dirty="0">
                <a:solidFill>
                  <a:srgbClr val="000000"/>
                </a:solidFill>
                <a:latin typeface="Consolas"/>
              </a:rPr>
              <a:t>A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es de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orden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14" b="0" dirty="0" err="1">
                <a:solidFill>
                  <a:srgbClr val="000000"/>
                </a:solidFill>
                <a:latin typeface="Consolas"/>
              </a:rPr>
              <a:t>n×n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y se llama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matriz</a:t>
            </a:r>
            <a:r>
              <a:rPr sz="1814" b="1" dirty="0">
                <a:solidFill>
                  <a:srgbClr val="000000"/>
                </a:solidFill>
                <a:latin typeface="Arial"/>
              </a:rPr>
              <a:t> de </a:t>
            </a:r>
            <a:r>
              <a:rPr sz="1814" b="1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: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contiene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toda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dinámica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propia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1814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14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814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la </a:t>
            </a:r>
            <a:r>
              <a:rPr sz="1814" b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que</a:t>
            </a:r>
            <a:r>
              <a:rPr sz="1814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</a:t>
            </a:r>
            <a:r>
              <a:rPr sz="1814" b="1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ocurre</a:t>
            </a:r>
            <a:r>
              <a:rPr sz="1814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</a:rPr>
              <a:t> sin entrada.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21744"/>
            <a:ext cx="10872216" cy="30072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 dirty="0">
                <a:solidFill>
                  <a:srgbClr val="000000"/>
                </a:solidFill>
                <a:latin typeface="Arial"/>
              </a:rPr>
              <a:t>Los </a:t>
            </a:r>
            <a:r>
              <a:rPr sz="1714" b="1" dirty="0" err="1">
                <a:solidFill>
                  <a:srgbClr val="000000"/>
                </a:solidFill>
                <a:latin typeface="Arial"/>
              </a:rPr>
              <a:t>autovalores</a:t>
            </a:r>
            <a:r>
              <a:rPr sz="1714" b="1" dirty="0">
                <a:solidFill>
                  <a:srgbClr val="000000"/>
                </a:solidFill>
                <a:latin typeface="Arial"/>
              </a:rPr>
              <a:t> de </a:t>
            </a:r>
            <a:r>
              <a:rPr sz="1714" b="1" dirty="0">
                <a:solidFill>
                  <a:srgbClr val="000000"/>
                </a:solidFill>
                <a:latin typeface="Consolas"/>
              </a:rPr>
              <a:t>A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son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los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 polos del </a:t>
            </a:r>
            <a:r>
              <a:rPr sz="1714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714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DE UNA ECUACIÓN DE ORDEN N A N DE PRIMER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Se toma como estado la salida y sus derivadas sucesivas: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86996"/>
            <a:ext cx="10872216" cy="201853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86996"/>
            <a:ext cx="54864" cy="201853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705868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d5c48962569f6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646" y="3053340"/>
            <a:ext cx="1851660" cy="297180"/>
          </a:xfrm>
          <a:prstGeom prst="rect">
            <a:avLst/>
          </a:prstGeom>
        </p:spPr>
      </p:pic>
      <p:pic>
        <p:nvPicPr>
          <p:cNvPr id="13" name="Picture 12" descr="f_8a15e1c512e64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991" y="3515112"/>
            <a:ext cx="902970" cy="272034"/>
          </a:xfrm>
          <a:prstGeom prst="rect">
            <a:avLst/>
          </a:prstGeom>
        </p:spPr>
      </p:pic>
      <p:pic>
        <p:nvPicPr>
          <p:cNvPr id="14" name="Picture 13" descr="f_0735e81ea201c0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122" y="3951738"/>
            <a:ext cx="3378708" cy="2971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Cada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derivada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nueva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convierte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variable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nueva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 El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resultado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es la 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forma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canónica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controlable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,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realización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más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directa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900" b="1" dirty="0">
                <a:solidFill>
                  <a:srgbClr val="000000"/>
                </a:solidFill>
                <a:latin typeface="Arial"/>
              </a:rPr>
              <a:t>FORMA CANÓNICA DE UN SISTEMA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,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x₁ = y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 = ẏ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3675"/>
            <a:ext cx="10872216" cy="160705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3675"/>
            <a:ext cx="54864" cy="160705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254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a876cf64155790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96" y="3200019"/>
            <a:ext cx="3108960" cy="7840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5005069"/>
            <a:ext cx="10872216" cy="606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última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fila de 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son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los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coeficientes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ecuación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cambiados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signo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y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orden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inverso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; el resto es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identidad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desplazada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ESCRIBA LA ECUACIÓN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el sistema de tercer orden</a:t>
            </a:r>
          </a:p>
        </p:txBody>
      </p:sp>
      <p:pic>
        <p:nvPicPr>
          <p:cNvPr id="9" name="Picture 8" descr="f_5ef0abd14f4d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788539"/>
            <a:ext cx="2633472" cy="3063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3744087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 err="1">
                <a:solidFill>
                  <a:srgbClr val="000000"/>
                </a:solidFill>
                <a:latin typeface="Arial"/>
              </a:rPr>
              <a:t>defina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las variables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estado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,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escriba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las matrices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forma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canónica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controlable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indique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orden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cada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VECTOR DE ESTADOS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241173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241173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00253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1" name="Picture 10" descr="f_df9812c0f46a84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6" y="2350008"/>
            <a:ext cx="2926080" cy="297180"/>
          </a:xfrm>
          <a:prstGeom prst="rect">
            <a:avLst/>
          </a:prstGeom>
        </p:spPr>
      </p:pic>
      <p:pic>
        <p:nvPicPr>
          <p:cNvPr id="12" name="Picture 11" descr="f_a3d6f5edc3477d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661" y="2811779"/>
            <a:ext cx="3897630" cy="11269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TODO LO QUE ACTÚA SOBRE 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63709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vector de entradas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u(t)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reúne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las </a:t>
            </a:r>
            <a:r>
              <a:rPr sz="1950" b="1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/>
              </a:rPr>
              <a:t>m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señales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actúan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 planta: las de control y,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si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se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modelan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, también las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perturbaciones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8361"/>
            <a:ext cx="10872216" cy="84582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68361"/>
            <a:ext cx="54864" cy="84582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ac6dda9060fef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60" y="3142681"/>
            <a:ext cx="3913632" cy="2971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4151001"/>
            <a:ext cx="10872216" cy="337015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La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matriz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es el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repartidor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: dice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actúa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cada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entrada y con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peso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Un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sistema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con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más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entrada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ya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no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cabe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en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sola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función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transferencia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haría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falta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matriz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transferencia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SIGNIFICA CADA COLUMNA DE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Separando la contribución de cada entrada por linealidad: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1585"/>
            <a:ext cx="10872216" cy="17556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1585"/>
            <a:ext cx="54864" cy="17556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045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f5c06a340cc1d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298" y="3197929"/>
            <a:ext cx="2848356" cy="486918"/>
          </a:xfrm>
          <a:prstGeom prst="rect">
            <a:avLst/>
          </a:prstGeom>
        </p:spPr>
      </p:pic>
      <p:pic>
        <p:nvPicPr>
          <p:cNvPr id="13" name="Picture 12" descr="f_78a2812d093ef2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514" y="3849439"/>
            <a:ext cx="3963924" cy="2811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</a:t>
            </a:r>
            <a:r>
              <a:rPr sz="1850" b="1">
                <a:solidFill>
                  <a:srgbClr val="000000"/>
                </a:solidFill>
                <a:latin typeface="Arial"/>
              </a:rPr>
              <a:t>columna j de B</a:t>
            </a:r>
            <a:r>
              <a:rPr sz="1850" b="0">
                <a:solidFill>
                  <a:srgbClr val="000000"/>
                </a:solidFill>
                <a:latin typeface="Arial"/>
              </a:rPr>
              <a:t> es la dirección del espacio de estados hacia la que empuja la entrada </a:t>
            </a:r>
            <a:r>
              <a:rPr sz="1850" b="0">
                <a:solidFill>
                  <a:srgbClr val="000000"/>
                </a:solidFill>
                <a:latin typeface="Consolas"/>
              </a:rPr>
              <a:t>j</a:t>
            </a:r>
            <a:r>
              <a:rPr sz="1850" b="0">
                <a:solidFill>
                  <a:srgbClr val="000000"/>
                </a:solidFill>
                <a:latin typeface="Arial"/>
              </a:rPr>
              <a:t>. Si una fila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>
                <a:solidFill>
                  <a:srgbClr val="000000"/>
                </a:solidFill>
                <a:latin typeface="Arial"/>
              </a:rPr>
              <a:t> es toda nula, ninguna entrada llega directamente a ese estado.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FUERZA DE CONTROL Y PERTURBACIÓN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carro recibe la fuerza del actuador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u₁</a:t>
            </a:r>
            <a:r>
              <a:rPr sz="1950" b="0">
                <a:solidFill>
                  <a:srgbClr val="000000"/>
                </a:solidFill>
                <a:latin typeface="Arial"/>
              </a:rPr>
              <a:t> y una fuerza de rozamiento externa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u₂</a:t>
            </a:r>
            <a:r>
              <a:rPr sz="1950" b="0">
                <a:solidFill>
                  <a:srgbClr val="000000"/>
                </a:solidFill>
                <a:latin typeface="Arial"/>
              </a:rPr>
              <a:t> que se opone al movimiento: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Ambas entradas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actúan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velocidad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ninguna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primera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fila de 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nula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porque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la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fuerza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no cambia la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de forma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instantánea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363BD8A0-78C7-BC63-2A1C-706C42951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900" y="2255363"/>
            <a:ext cx="6714913" cy="296246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1907A-08E1-9B1E-988F-CE0CB61C7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6DC427-B6FC-275E-EA9D-BE2B1B201D50}"/>
              </a:ext>
            </a:extLst>
          </p:cNvPr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093A96-EA65-E1D6-2189-773D5035A18F}"/>
              </a:ext>
            </a:extLst>
          </p:cNvPr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27</a:t>
            </a:r>
          </a:p>
        </p:txBody>
      </p:sp>
      <p:pic>
        <p:nvPicPr>
          <p:cNvPr id="4" name="Picture 3" descr="logo_etitc.png">
            <a:extLst>
              <a:ext uri="{FF2B5EF4-FFF2-40B4-BE49-F238E27FC236}">
                <a16:creationId xmlns:a16="http://schemas.microsoft.com/office/drawing/2014/main" id="{9365808A-3DA1-2B75-139D-DD9E13A5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9D7AC5-C60B-DC45-C017-439AC9B9B806}"/>
              </a:ext>
            </a:extLst>
          </p:cNvPr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93BBB9-850F-0B6C-CECB-A9CA77311FD4}"/>
              </a:ext>
            </a:extLst>
          </p:cNvPr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FUERZA DE CONTROL Y PERTURBACIÓN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7DCF81-DDF0-76B3-FA6B-35F7A97E0921}"/>
              </a:ext>
            </a:extLst>
          </p:cNvPr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EJEMPLO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397FD7-7936-9AD9-1D90-0E5FC0797E7B}"/>
              </a:ext>
            </a:extLst>
          </p:cNvPr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carro recibe la fuerza del actuador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u₁</a:t>
            </a:r>
            <a:r>
              <a:rPr sz="1950" b="0">
                <a:solidFill>
                  <a:srgbClr val="000000"/>
                </a:solidFill>
                <a:latin typeface="Arial"/>
              </a:rPr>
              <a:t> y una fuerza de rozamiento externa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u₂</a:t>
            </a:r>
            <a:r>
              <a:rPr sz="1950" b="0">
                <a:solidFill>
                  <a:srgbClr val="000000"/>
                </a:solidFill>
                <a:latin typeface="Arial"/>
              </a:rPr>
              <a:t> que se opone al movimiento: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8FEA56-9A90-4276-47A0-1F021E0CB71F}"/>
              </a:ext>
            </a:extLst>
          </p:cNvPr>
          <p:cNvSpPr/>
          <p:nvPr/>
        </p:nvSpPr>
        <p:spPr>
          <a:xfrm>
            <a:off x="658368" y="2944812"/>
            <a:ext cx="10872216" cy="160705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F3EEEB-53CF-EC61-55B3-7FB9199BF6DE}"/>
              </a:ext>
            </a:extLst>
          </p:cNvPr>
          <p:cNvSpPr/>
          <p:nvPr/>
        </p:nvSpPr>
        <p:spPr>
          <a:xfrm>
            <a:off x="658368" y="2944812"/>
            <a:ext cx="54864" cy="160705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78DA48-A59A-1CC5-8104-35649846C760}"/>
              </a:ext>
            </a:extLst>
          </p:cNvPr>
          <p:cNvSpPr txBox="1"/>
          <p:nvPr/>
        </p:nvSpPr>
        <p:spPr>
          <a:xfrm>
            <a:off x="1115568" y="3063684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f5caa2ab47b4d3c0.png">
            <a:extLst>
              <a:ext uri="{FF2B5EF4-FFF2-40B4-BE49-F238E27FC236}">
                <a16:creationId xmlns:a16="http://schemas.microsoft.com/office/drawing/2014/main" id="{71EC8A23-F08E-DD11-BE1C-ED5EB1F80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073" y="3411156"/>
            <a:ext cx="4162806" cy="784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7E6BDF1-2797-9423-50F0-91F2B24CE396}"/>
              </a:ext>
            </a:extLst>
          </p:cNvPr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 dirty="0">
                <a:solidFill>
                  <a:srgbClr val="000000"/>
                </a:solidFill>
                <a:latin typeface="Arial"/>
              </a:rPr>
              <a:t>Ambas entradas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actúan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velocidad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y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ninguna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sobre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: la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primera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fila de </a:t>
            </a:r>
            <a:r>
              <a:rPr sz="1850" b="0" dirty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es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nula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0" dirty="0" err="1">
                <a:solidFill>
                  <a:srgbClr val="000000"/>
                </a:solidFill>
                <a:latin typeface="Arial"/>
              </a:rPr>
              <a:t>porque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la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fuerza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no cambia la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posición</a:t>
            </a:r>
            <a:r>
              <a:rPr sz="1850" b="1" dirty="0">
                <a:solidFill>
                  <a:srgbClr val="000000"/>
                </a:solidFill>
                <a:latin typeface="Arial"/>
              </a:rPr>
              <a:t> de forma </a:t>
            </a:r>
            <a:r>
              <a:rPr sz="1850" b="1" dirty="0" err="1">
                <a:solidFill>
                  <a:srgbClr val="000000"/>
                </a:solidFill>
                <a:latin typeface="Arial"/>
              </a:rPr>
              <a:t>instantánea</a:t>
            </a:r>
            <a:r>
              <a:rPr sz="185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70019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INTERPRETE LA MATRIZ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sistema de tres estados tiene</a:t>
            </a:r>
          </a:p>
        </p:txBody>
      </p:sp>
      <p:pic>
        <p:nvPicPr>
          <p:cNvPr id="9" name="Picture 8" descr="f_696c75f0aa4e21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30" y="2631452"/>
            <a:ext cx="1421892" cy="1124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42483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¿Cuántas entradas tiene?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¿Sobre qué estados actúa cada una?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¿Qué le ocurre al estado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</a:t>
            </a:r>
            <a:r>
              <a:rPr sz="1950" b="0">
                <a:solidFill>
                  <a:srgbClr val="000000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VECTOR DE ENTRADAS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24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7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Entradas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dos: B es 3×2, luego m =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Acción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u₁ sobre x₁; u₂ sobre x₃ con peso 2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Estado x₂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su fila es nula: ninguna entrada lo alcanza directamente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Que </a:t>
            </a:r>
            <a:r>
              <a:rPr sz="1850" b="0">
                <a:solidFill>
                  <a:srgbClr val="000000"/>
                </a:solidFill>
                <a:latin typeface="Consolas"/>
              </a:rPr>
              <a:t>x₂</a:t>
            </a:r>
            <a:r>
              <a:rPr sz="1850" b="0">
                <a:solidFill>
                  <a:srgbClr val="000000"/>
                </a:solidFill>
                <a:latin typeface="Arial"/>
              </a:rPr>
              <a:t> no reciba entrada </a:t>
            </a:r>
            <a:r>
              <a:rPr sz="1850" b="1">
                <a:solidFill>
                  <a:srgbClr val="000000"/>
                </a:solidFill>
                <a:latin typeface="Arial"/>
              </a:rPr>
              <a:t>directa</a:t>
            </a:r>
            <a:r>
              <a:rPr sz="1850" b="0">
                <a:solidFill>
                  <a:srgbClr val="000000"/>
                </a:solidFill>
                <a:latin typeface="Arial"/>
              </a:rPr>
              <a:t> no lo hace incontrolable: puede alcanzarse a través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A</a:t>
            </a:r>
            <a:r>
              <a:rPr sz="1850" b="0">
                <a:solidFill>
                  <a:srgbClr val="000000"/>
                </a:solidFill>
                <a:latin typeface="Arial"/>
              </a:rPr>
              <a:t>, si los estados están acoplados. Eso es lo que decidirá la matriz de controlabilidad.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 QUE EL SENSOR ALCANZA A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63709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 dirty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vector de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salidas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>
                <a:solidFill>
                  <a:srgbClr val="000000"/>
                </a:solidFill>
                <a:latin typeface="Consolas"/>
              </a:rPr>
              <a:t>y(t)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reúne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las </a:t>
            </a:r>
            <a:r>
              <a:rPr sz="1950" b="1" dirty="0">
                <a:solidFill>
                  <a:srgbClr val="000000"/>
                </a:solidFill>
                <a:latin typeface="Consolas"/>
              </a:rPr>
              <a:t>p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señales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que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realmente</a:t>
            </a:r>
            <a:r>
              <a:rPr sz="1950" b="1" dirty="0">
                <a:solidFill>
                  <a:srgbClr val="000000"/>
                </a:solidFill>
                <a:latin typeface="Arial"/>
              </a:rPr>
              <a:t> se </a:t>
            </a:r>
            <a:r>
              <a:rPr sz="1950" b="1" dirty="0" err="1">
                <a:solidFill>
                  <a:srgbClr val="000000"/>
                </a:solidFill>
                <a:latin typeface="Arial"/>
              </a:rPr>
              <a:t>miden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. Se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obtiene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combinando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estados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 y, </a:t>
            </a:r>
            <a:r>
              <a:rPr sz="1950" b="0" dirty="0" err="1">
                <a:solidFill>
                  <a:srgbClr val="000000"/>
                </a:solidFill>
                <a:latin typeface="Arial"/>
              </a:rPr>
              <a:t>eventualmente</a:t>
            </a:r>
            <a:r>
              <a:rPr sz="1950" b="0" dirty="0">
                <a:solidFill>
                  <a:srgbClr val="000000"/>
                </a:solidFill>
                <a:latin typeface="Arial"/>
              </a:rPr>
              <a:t>, entradas: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87370"/>
            <a:ext cx="10872216" cy="848106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87370"/>
            <a:ext cx="54864" cy="848106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c4c1e878eca3e5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2946" y="3061690"/>
            <a:ext cx="1623060" cy="29946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3991305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Consolas"/>
              </a:rPr>
              <a:t>C</a:t>
            </a:r>
            <a:r>
              <a:rPr sz="1950" b="0">
                <a:solidFill>
                  <a:srgbClr val="000000"/>
                </a:solidFill>
                <a:latin typeface="Arial"/>
              </a:rPr>
              <a:t> es de orden </a:t>
            </a:r>
            <a:r>
              <a:rPr sz="1950" b="0">
                <a:solidFill>
                  <a:srgbClr val="000000"/>
                </a:solidFill>
                <a:latin typeface="Consolas"/>
              </a:rPr>
              <a:t>p×n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1">
                <a:solidFill>
                  <a:srgbClr val="000000"/>
                </a:solidFill>
                <a:latin typeface="Arial"/>
              </a:rPr>
              <a:t>selecciona o combina</a:t>
            </a:r>
            <a:r>
              <a:rPr sz="1950" b="0">
                <a:solidFill>
                  <a:srgbClr val="000000"/>
                </a:solidFill>
                <a:latin typeface="Arial"/>
              </a:rPr>
              <a:t> estados; </a:t>
            </a:r>
            <a:r>
              <a:rPr sz="1950" b="0">
                <a:solidFill>
                  <a:srgbClr val="000000"/>
                </a:solidFill>
                <a:latin typeface="Consolas"/>
              </a:rPr>
              <a:t>D</a:t>
            </a:r>
            <a:r>
              <a:rPr sz="1950" b="0">
                <a:solidFill>
                  <a:srgbClr val="000000"/>
                </a:solidFill>
                <a:latin typeface="Arial"/>
              </a:rPr>
              <a:t>, de orden </a:t>
            </a:r>
            <a:r>
              <a:rPr sz="1950" b="0">
                <a:solidFill>
                  <a:srgbClr val="000000"/>
                </a:solidFill>
                <a:latin typeface="Consolas"/>
              </a:rPr>
              <a:t>p×m</a:t>
            </a:r>
            <a:r>
              <a:rPr sz="1950" b="0">
                <a:solidFill>
                  <a:srgbClr val="000000"/>
                </a:solidFill>
                <a:latin typeface="Arial"/>
              </a:rPr>
              <a:t>, es la transmisión directa de la entrada a la salida.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estado describe el sistema; la salida describe lo que el instrumento deja ver de él. Casi nunca son lo mismo.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POR QUÉ D SUELE SER CERO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Consolas"/>
              </a:rPr>
              <a:t>D ≠ 0</a:t>
            </a:r>
            <a:r>
              <a:rPr sz="1950" b="0">
                <a:solidFill>
                  <a:srgbClr val="000000"/>
                </a:solidFill>
                <a:latin typeface="Arial"/>
              </a:rPr>
              <a:t> significa que un cambio en la entrada aparece en la salida </a:t>
            </a:r>
            <a:r>
              <a:rPr sz="1950" b="1">
                <a:solidFill>
                  <a:srgbClr val="000000"/>
                </a:solidFill>
                <a:latin typeface="Arial"/>
              </a:rPr>
              <a:t>en el mismo instante</a:t>
            </a:r>
            <a:r>
              <a:rPr sz="1950" b="0">
                <a:solidFill>
                  <a:srgbClr val="000000"/>
                </a:solidFill>
                <a:latin typeface="Arial"/>
              </a:rPr>
              <a:t>, sin pasar por ningún integrador.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9374"/>
            <a:ext cx="10872216" cy="174421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69374"/>
            <a:ext cx="54864" cy="174421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98824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deb3aad02a15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415" y="3335718"/>
            <a:ext cx="3262122" cy="345186"/>
          </a:xfrm>
          <a:prstGeom prst="rect">
            <a:avLst/>
          </a:prstGeom>
        </p:spPr>
      </p:pic>
      <p:pic>
        <p:nvPicPr>
          <p:cNvPr id="13" name="Picture 12" descr="f_1d0dfdd8a2f6d7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3845496"/>
            <a:ext cx="16184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Un sistema físico siempre tiene algo de inercia, así que </a:t>
            </a:r>
            <a:r>
              <a:rPr sz="1850" b="0">
                <a:solidFill>
                  <a:srgbClr val="000000"/>
                </a:solidFill>
                <a:latin typeface="Consolas"/>
              </a:rPr>
              <a:t>G(∞) = 0</a:t>
            </a:r>
            <a:r>
              <a:rPr sz="1850" b="0">
                <a:solidFill>
                  <a:srgbClr val="000000"/>
                </a:solidFill>
                <a:latin typeface="Arial"/>
              </a:rPr>
              <a:t> y por tanto </a:t>
            </a:r>
            <a:r>
              <a:rPr sz="1850" b="0">
                <a:solidFill>
                  <a:srgbClr val="000000"/>
                </a:solidFill>
                <a:latin typeface="Consolas"/>
              </a:rPr>
              <a:t>D = 0</a:t>
            </a:r>
            <a:r>
              <a:rPr sz="1850" b="0">
                <a:solidFill>
                  <a:srgbClr val="000000"/>
                </a:solidFill>
                <a:latin typeface="Arial"/>
              </a:rPr>
              <a:t>. Se dice entonces que el sistema es </a:t>
            </a:r>
            <a:r>
              <a:rPr sz="1850" b="1">
                <a:solidFill>
                  <a:srgbClr val="000000"/>
                </a:solidFill>
                <a:latin typeface="Arial"/>
              </a:rPr>
              <a:t>estrictamente propio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DOS SENSORES DISTINTOS, MISMO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Sobre el carro del subtema 2.1, según lo que se instale: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20943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35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8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SE MIDE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MATRIZ C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ORDEN DE Y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posición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1×1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[0  1]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1×1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Posición y velocidad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[[1,0],[0,1]] =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2×1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Con </a:t>
            </a:r>
            <a:r>
              <a:rPr sz="1850" b="0">
                <a:solidFill>
                  <a:srgbClr val="000000"/>
                </a:solidFill>
                <a:latin typeface="Consolas"/>
              </a:rPr>
              <a:t>C = I</a:t>
            </a:r>
            <a:r>
              <a:rPr sz="1850" b="0">
                <a:solidFill>
                  <a:srgbClr val="000000"/>
                </a:solidFill>
                <a:latin typeface="Arial"/>
              </a:rPr>
              <a:t> la salida </a:t>
            </a:r>
            <a:r>
              <a:rPr sz="1850" b="1">
                <a:solidFill>
                  <a:srgbClr val="000000"/>
                </a:solidFill>
                <a:latin typeface="Arial"/>
              </a:rPr>
              <a:t>es</a:t>
            </a:r>
            <a:r>
              <a:rPr sz="1850" b="0">
                <a:solidFill>
                  <a:srgbClr val="000000"/>
                </a:solidFill>
                <a:latin typeface="Arial"/>
              </a:rPr>
              <a:t> el estado: se conoce todo. Es el caso ideal que casi nunca se da, y por eso existen los observadores.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ESCRIBA LA ECUACIÓN DE SALIDA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el carro con estados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x₁ = posición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 = velocidad</a:t>
            </a:r>
            <a:r>
              <a:rPr sz="1950" b="0">
                <a:solidFill>
                  <a:srgbClr val="000000"/>
                </a:solidFill>
                <a:latin typeface="Arial"/>
              </a:rPr>
              <a:t>, escriba </a:t>
            </a:r>
            <a:r>
              <a:rPr sz="1950" b="0">
                <a:solidFill>
                  <a:srgbClr val="000000"/>
                </a:solidFill>
                <a:latin typeface="Consolas"/>
              </a:rPr>
              <a:t>C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D</a:t>
            </a:r>
            <a:r>
              <a:rPr sz="1950" b="0">
                <a:solidFill>
                  <a:srgbClr val="000000"/>
                </a:solidFill>
                <a:latin typeface="Arial"/>
              </a:rPr>
              <a:t> si el sensor entrega: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la posición en metros;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la suma de posición y velocidad;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la posición, más un término </a:t>
            </a:r>
            <a:r>
              <a:rPr sz="1950" b="0">
                <a:solidFill>
                  <a:srgbClr val="000000"/>
                </a:solidFill>
                <a:latin typeface="Consolas"/>
              </a:rPr>
              <a:t>0,1·u</a:t>
            </a:r>
            <a:r>
              <a:rPr sz="1950" b="0">
                <a:solidFill>
                  <a:srgbClr val="000000"/>
                </a:solidFill>
                <a:latin typeface="Arial"/>
              </a:rPr>
              <a:t> por acoplamiento del actuador.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VECTOR DE SALIDAS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39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2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Posición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Posición +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1]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Posición con acoplamiento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0,1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En el caso c) el sistema deja de ser estrictamente propio: parte de la señal de control se cuela en el sensor </a:t>
            </a:r>
            <a:r>
              <a:rPr sz="1850" b="1">
                <a:solidFill>
                  <a:srgbClr val="000000"/>
                </a:solidFill>
                <a:latin typeface="Arial"/>
              </a:rPr>
              <a:t>sin retardo</a:t>
            </a:r>
            <a:r>
              <a:rPr sz="1850" b="0">
                <a:solidFill>
                  <a:srgbClr val="000000"/>
                </a:solidFill>
                <a:latin typeface="Arial"/>
              </a:rPr>
              <a:t>, lo que en la práctica es ruido de acoplamiento, no dinámica.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UTILIDAD Y COMPARACIÓN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310127"/>
            <a:ext cx="10872216" cy="950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3.1  Utilidad de la representación en variables de estado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3.2  Espacio de estados frente a función de transferencia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HABILITA TRABAJAR CON EL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EXPLICACIÓN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9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2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CAPACIDAD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POR QUÉ LA DA EL ESPACIO DE ESTADOS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Sistemas MIMO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 y C son matrices: varias entradas y salidas sin esfuerzo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x(0) es un dato explícito del modelo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No lineales y variantes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ẋ = f(x, u, t) admite cualquier forma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Control óptimo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índice de desempeño se escribe sobre x y u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Estimación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observador reconstruye lo que no se mide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Casi todo el curso vive de estas cinco filas.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LA SOLUCIÓN EXPLÍCITA DE LA ECUACIÓN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espacio de estados entrega una fórmula cerrada para la evolución completa del sistema: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97638"/>
            <a:ext cx="10872216" cy="181737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697638"/>
            <a:ext cx="54864" cy="181737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16510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6691b8032b37a7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2197" y="3163982"/>
            <a:ext cx="4464558" cy="525780"/>
          </a:xfrm>
          <a:prstGeom prst="rect">
            <a:avLst/>
          </a:prstGeom>
        </p:spPr>
      </p:pic>
      <p:pic>
        <p:nvPicPr>
          <p:cNvPr id="13" name="Picture 12" descr="f_988f04b7505731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743" y="3854354"/>
            <a:ext cx="2585466" cy="3040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primer término es la </a:t>
            </a:r>
            <a:r>
              <a:rPr sz="1850" b="1">
                <a:solidFill>
                  <a:srgbClr val="000000"/>
                </a:solidFill>
                <a:latin typeface="Arial"/>
              </a:rPr>
              <a:t>respuesta libre</a:t>
            </a:r>
            <a:r>
              <a:rPr sz="1850" b="0">
                <a:solidFill>
                  <a:srgbClr val="000000"/>
                </a:solidFill>
                <a:latin typeface="Arial"/>
              </a:rPr>
              <a:t>, la que arranca del estado inicial; el segundo es la </a:t>
            </a:r>
            <a:r>
              <a:rPr sz="1850" b="1">
                <a:solidFill>
                  <a:srgbClr val="000000"/>
                </a:solidFill>
                <a:latin typeface="Arial"/>
              </a:rPr>
              <a:t>forzada</a:t>
            </a:r>
            <a:r>
              <a:rPr sz="1850" b="0">
                <a:solidFill>
                  <a:srgbClr val="000000"/>
                </a:solidFill>
                <a:latin typeface="Arial"/>
              </a:rPr>
              <a:t>. La función de transferencia solo describe el segundo.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MISMO PROBLEMA CON LOS DOS ENFOQUES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Carro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, que arranca desde </a:t>
            </a:r>
            <a:r>
              <a:rPr sz="1950" b="0">
                <a:solidFill>
                  <a:srgbClr val="000000"/>
                </a:solidFill>
                <a:latin typeface="Consolas"/>
              </a:rPr>
              <a:t>y(0) = 0,5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ẏ(0) = 0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20943"/>
          <a:ext cx="10872216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ENFOQUE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QUÉ PERMITE CALCULAR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Función de transferencia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respuesta al escalón desde el reposo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la respuesta completa, incluida la libre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diseño de K para colocar los polos donde se quiera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Los dos enfoques coinciden cuando el estado inicial es nulo. Fuera de ese caso, solo uno de los dos sirve.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ELIJA EL ENFOQUE ADECUADO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Indique qué representación usaría en cada situación y por qué: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3675"/>
            <a:ext cx="10872216" cy="11689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Un brazo robótico de dos articulaciones acopladas, con dos motores.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Medir experimentalmente la respuesta en frecuencia de un filtro.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Diseñar un controlador que minimice el consumo de energía.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d) Estimar la velocidad de un motor del que solo se mide la posición.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UTILIDAD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2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7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2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ENFOQUE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RAZÓN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a) Brazo de 2 GDL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MIMO con acoplamiento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b) Respuesta en frecuencia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clásico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G(jω) es directamente medible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c) Mínimo consumo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el índice se escribe sobre x y u (LQR)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d) Estimar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requiere un observador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enfoque clásico no está obsoleto: para identificar y para leer márgenes de estabilidad sigue siendo el más directo. Son </a:t>
            </a:r>
            <a:r>
              <a:rPr sz="1850" b="1">
                <a:solidFill>
                  <a:srgbClr val="000000"/>
                </a:solidFill>
                <a:latin typeface="Arial"/>
              </a:rPr>
              <a:t>herramientas complementarias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DOS DESCRIPCIONES DE LA MISMA PLANTA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EXPLICACIÓN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4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4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4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FUNCIÓN DE TRANSFERENCIA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Dominio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frecuencia (s o 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tiempo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Alcance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SISO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MIMO natural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supuestas nulas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explícitas en x(0)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Información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entrada–salida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también lo interno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Unicidad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única para la planta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infinitas realizaciones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última fila es la más sorprendente: </a:t>
            </a:r>
            <a:r>
              <a:rPr sz="1850" b="1">
                <a:solidFill>
                  <a:srgbClr val="000000"/>
                </a:solidFill>
                <a:latin typeface="Arial"/>
              </a:rPr>
              <a:t>la función de transferencia es única, la representación en estado no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PUENTE ENTRE LAS DOS DESCRIPCIONES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Del estado se pasa siempre a la transferencia; al revés hay que elegir una realización: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3675"/>
            <a:ext cx="10872216" cy="1643634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3675"/>
            <a:ext cx="54864" cy="164363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254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deb3aad02a15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415" y="3200019"/>
            <a:ext cx="3262122" cy="345186"/>
          </a:xfrm>
          <a:prstGeom prst="rect">
            <a:avLst/>
          </a:prstGeom>
        </p:spPr>
      </p:pic>
      <p:pic>
        <p:nvPicPr>
          <p:cNvPr id="13" name="Picture 12" descr="f_b7a73a06126933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4815" y="3709796"/>
            <a:ext cx="371932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paso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(A, B, C, D)</a:t>
            </a:r>
            <a:r>
              <a:rPr sz="1850" b="0">
                <a:solidFill>
                  <a:srgbClr val="000000"/>
                </a:solidFill>
                <a:latin typeface="Arial"/>
              </a:rPr>
              <a:t> a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 es </a:t>
            </a:r>
            <a:r>
              <a:rPr sz="1850" b="1">
                <a:solidFill>
                  <a:srgbClr val="000000"/>
                </a:solidFill>
                <a:latin typeface="Arial"/>
              </a:rPr>
              <a:t>una sola dirección segura</a:t>
            </a:r>
            <a:r>
              <a:rPr sz="1850" b="0">
                <a:solidFill>
                  <a:srgbClr val="000000"/>
                </a:solidFill>
                <a:latin typeface="Arial"/>
              </a:rPr>
              <a:t>. Al volver se pierde todo lo que no aparece en la relación entrada–salida.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 QUE LA TRANSFERENCIA ESCONDE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Las dos realizaciones siguientes tienen la misma </a:t>
            </a:r>
            <a:r>
              <a:rPr sz="1950" b="0">
                <a:solidFill>
                  <a:srgbClr val="000000"/>
                </a:solidFill>
                <a:latin typeface="Consolas"/>
              </a:rPr>
              <a:t>G(s) = 1/[(s+1)(s+2)]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22195"/>
            <a:ext cx="10872216" cy="25557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322195"/>
            <a:ext cx="54864" cy="25557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44106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fcb300f998bf6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862" y="2788539"/>
            <a:ext cx="5253228" cy="784098"/>
          </a:xfrm>
          <a:prstGeom prst="rect">
            <a:avLst/>
          </a:prstGeom>
        </p:spPr>
      </p:pic>
      <p:pic>
        <p:nvPicPr>
          <p:cNvPr id="13" name="Picture 12" descr="f_c8101fe5f3c6308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3737229"/>
            <a:ext cx="5376672" cy="78409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Matrices distintas, misma transferencia.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 describe </a:t>
            </a:r>
            <a:r>
              <a:rPr sz="1850" b="1">
                <a:solidFill>
                  <a:srgbClr val="000000"/>
                </a:solidFill>
                <a:latin typeface="Arial"/>
              </a:rPr>
              <a:t>el comportamiento</a:t>
            </a:r>
            <a:r>
              <a:rPr sz="1850" b="0">
                <a:solidFill>
                  <a:srgbClr val="000000"/>
                </a:solidFill>
                <a:latin typeface="Arial"/>
              </a:rPr>
              <a:t>, no la estructura interna.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ANALICE EL SISTEMA CON CANCELACIÓN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la realización</a:t>
            </a:r>
          </a:p>
        </p:txBody>
      </p:sp>
      <p:pic>
        <p:nvPicPr>
          <p:cNvPr id="9" name="Picture 8" descr="f_b063a504133a9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749" y="2788539"/>
            <a:ext cx="4775454" cy="784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4221861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Calcule </a:t>
            </a:r>
            <a:r>
              <a:rPr sz="1950" b="0">
                <a:solidFill>
                  <a:srgbClr val="000000"/>
                </a:solidFill>
                <a:latin typeface="Consolas"/>
              </a:rPr>
              <a:t>G(s)</a:t>
            </a:r>
            <a:r>
              <a:rPr sz="1950" b="0">
                <a:solidFill>
                  <a:srgbClr val="000000"/>
                </a:solidFill>
                <a:latin typeface="Arial"/>
              </a:rPr>
              <a:t>. b) ¿Cuántos polos aparecen y cuántos autovalores tiene </a:t>
            </a:r>
            <a:r>
              <a:rPr sz="1950" b="0">
                <a:solidFill>
                  <a:srgbClr val="000000"/>
                </a:solidFill>
                <a:latin typeface="Consolas"/>
              </a:rPr>
              <a:t>A</a:t>
            </a:r>
            <a:r>
              <a:rPr sz="1950" b="0">
                <a:solidFill>
                  <a:srgbClr val="000000"/>
                </a:solidFill>
                <a:latin typeface="Arial"/>
              </a:rPr>
              <a:t>? c) ¿Qué le ocurre al modo faltante?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ESTADO VS. TRANSFERENCIA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265861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265861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00253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1" name="Picture 10" descr="f_64e9ce6a80466f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247" y="2350008"/>
            <a:ext cx="1378458" cy="441198"/>
          </a:xfrm>
          <a:prstGeom prst="rect">
            <a:avLst/>
          </a:prstGeom>
        </p:spPr>
      </p:pic>
      <p:pic>
        <p:nvPicPr>
          <p:cNvPr id="12" name="Picture 11" descr="f_6a671c99c80d03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98" y="2955798"/>
            <a:ext cx="3762756" cy="285750"/>
          </a:xfrm>
          <a:prstGeom prst="rect">
            <a:avLst/>
          </a:prstGeom>
        </p:spPr>
      </p:pic>
      <p:pic>
        <p:nvPicPr>
          <p:cNvPr id="13" name="Picture 12" descr="f_4537f14da3da35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0218" y="3406140"/>
            <a:ext cx="4128515" cy="7795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4727829"/>
            <a:ext cx="10872216" cy="83172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modo en </a:t>
            </a:r>
            <a:r>
              <a:rPr sz="1850" b="0">
                <a:solidFill>
                  <a:srgbClr val="000000"/>
                </a:solidFill>
                <a:latin typeface="Consolas"/>
              </a:rPr>
              <a:t>−2</a:t>
            </a:r>
            <a:r>
              <a:rPr sz="1850" b="0">
                <a:solidFill>
                  <a:srgbClr val="000000"/>
                </a:solidFill>
                <a:latin typeface="Arial"/>
              </a:rPr>
              <a:t> existe y evoluciona, pero la entrada no lo alcanza: es </a:t>
            </a:r>
            <a:r>
              <a:rPr sz="1850" b="1">
                <a:solidFill>
                  <a:srgbClr val="000000"/>
                </a:solidFill>
                <a:latin typeface="Arial"/>
              </a:rPr>
              <a:t>incontrolable</a:t>
            </a:r>
            <a:r>
              <a:rPr sz="1850" b="0">
                <a:solidFill>
                  <a:srgbClr val="000000"/>
                </a:solidFill>
                <a:latin typeface="Arial"/>
              </a:rPr>
              <a:t> y desaparece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. Si ese modo fuera inestable, la transferencia mostraría un sistema sano mientras la planta se dispara.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3383</Words>
  <Application>Microsoft Office PowerPoint</Application>
  <PresentationFormat>Panorámica</PresentationFormat>
  <Paragraphs>470</Paragraphs>
  <Slides>48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48</vt:i4>
      </vt:variant>
    </vt:vector>
  </HeadingPairs>
  <TitlesOfParts>
    <vt:vector size="52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JHEYSON FABIAN VILLAVISAN BUITRAGO</cp:lastModifiedBy>
  <cp:revision>1</cp:revision>
  <dcterms:created xsi:type="dcterms:W3CDTF">2013-01-27T09:14:16Z</dcterms:created>
  <dcterms:modified xsi:type="dcterms:W3CDTF">2026-08-19T13:44:41Z</dcterms:modified>
  <cp:category/>
</cp:coreProperties>
</file>