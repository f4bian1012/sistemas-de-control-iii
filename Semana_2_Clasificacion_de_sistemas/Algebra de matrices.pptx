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728655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ÁLGEBRA DE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2255" y="318211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898989"/>
                </a:solidFill>
                <a:latin typeface="Arial"/>
              </a:rPr>
              <a:t>Ogata, sección 2-8 · Herramienta base para el espacio de estados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0448"/>
            <a:ext cx="73152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898989"/>
                </a:solidFill>
                <a:latin typeface="Arial"/>
              </a:rPr>
              <a:t>Jheyson Fabian Villavisan Buitrago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2823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98989"/>
                </a:solidFill>
                <a:latin typeface="Arial"/>
              </a:rPr>
              <a:t>Ingeniería Mecatrónica · Escuela Tecnológica Instituto Técnico Central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CONTENIDO DE LA UNIDAD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FUNDAMENTOS MATEMÁTICOS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713232" cy="51206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9384"/>
            <a:ext cx="7132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819656"/>
            <a:ext cx="9994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Operaciones aditivas y sus leyes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Igualdad, suma y resta de matrices, y las leyes asociativa y conmutativa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23744"/>
            <a:ext cx="713232" cy="51206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7132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496312"/>
            <a:ext cx="9994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Multiplicación de matrices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Regla fila por columna, propiedades del producto y producto por un escalar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200400"/>
            <a:ext cx="713232" cy="51206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82696"/>
            <a:ext cx="7132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172968"/>
            <a:ext cx="9994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Inversa y rango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Matriz inversa, condición de existencia y rango como criterio de independencia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OPERACIONES ADITIVAS Y SUS LEYES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TEMA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39"/>
            <a:ext cx="10872216" cy="1901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1.1  Igualdad de matrices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1.2  Suma y resta de matrices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1.3  Ley asociativa (suma y resta)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1.4  Ley conmutativa (suma y resta)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CUÁNDO DOS MATRICES SON IGUALES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Dos matrices son </a:t>
            </a:r>
            <a:r>
              <a:rPr sz="1950" b="1">
                <a:solidFill>
                  <a:srgbClr val="000000"/>
                </a:solidFill>
                <a:latin typeface="Arial"/>
              </a:rPr>
              <a:t>iguales</a:t>
            </a:r>
            <a:r>
              <a:rPr sz="1950" b="0">
                <a:solidFill>
                  <a:srgbClr val="000000"/>
                </a:solidFill>
                <a:latin typeface="Arial"/>
              </a:rPr>
              <a:t> cuando tienen el mismo orden y </a:t>
            </a:r>
            <a:r>
              <a:rPr sz="1950" b="1">
                <a:solidFill>
                  <a:srgbClr val="000000"/>
                </a:solidFill>
                <a:latin typeface="Arial"/>
              </a:rPr>
              <a:t>todos</a:t>
            </a:r>
            <a:r>
              <a:rPr sz="1950" b="0">
                <a:solidFill>
                  <a:srgbClr val="000000"/>
                </a:solidFill>
                <a:latin typeface="Arial"/>
              </a:rPr>
              <a:t> sus elementos correspondientes coinciden, uno por uno.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56068"/>
            <a:ext cx="10872216" cy="87553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856068"/>
            <a:ext cx="54864" cy="87553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73e9e73e8bfcc1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082" y="3130388"/>
            <a:ext cx="4018787" cy="3268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156132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 condición sobre el orden no es un tecnicismo: una matriz </a:t>
            </a:r>
            <a:r>
              <a:rPr sz="1950" b="0">
                <a:solidFill>
                  <a:srgbClr val="000000"/>
                </a:solidFill>
                <a:latin typeface="Consolas"/>
              </a:rPr>
              <a:t>2x3</a:t>
            </a:r>
            <a:r>
              <a:rPr sz="1950" b="0">
                <a:solidFill>
                  <a:srgbClr val="000000"/>
                </a:solidFill>
                <a:latin typeface="Arial"/>
              </a:rPr>
              <a:t> y una </a:t>
            </a:r>
            <a:r>
              <a:rPr sz="1950" b="0">
                <a:solidFill>
                  <a:srgbClr val="000000"/>
                </a:solidFill>
                <a:latin typeface="Consolas"/>
              </a:rPr>
              <a:t>3x2</a:t>
            </a:r>
            <a:r>
              <a:rPr sz="1950" b="0">
                <a:solidFill>
                  <a:srgbClr val="000000"/>
                </a:solidFill>
                <a:latin typeface="Arial"/>
              </a:rPr>
              <a:t> nunca son iguales, aunque contengan los mismos números.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igualdad se define elemento a elemento; por eso una sola discrepancia basta para romperla.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IGUALDAD COMO DIFERENCIA NULA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Comprobar </a:t>
            </a:r>
            <a:r>
              <a:rPr sz="1950" b="0">
                <a:solidFill>
                  <a:srgbClr val="000000"/>
                </a:solidFill>
                <a:latin typeface="Consolas"/>
              </a:rPr>
              <a:t>2n²</a:t>
            </a:r>
            <a:r>
              <a:rPr sz="1950" b="0">
                <a:solidFill>
                  <a:srgbClr val="000000"/>
                </a:solidFill>
                <a:latin typeface="Arial"/>
              </a:rPr>
              <a:t> igualdades es incómodo. La forma operativa es llevarlo todo a un lado: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25972"/>
            <a:ext cx="10872216" cy="194767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25972"/>
            <a:ext cx="54864" cy="194767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744844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1e5ab374aa924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571" y="3092316"/>
            <a:ext cx="765810" cy="230886"/>
          </a:xfrm>
          <a:prstGeom prst="rect">
            <a:avLst/>
          </a:prstGeom>
        </p:spPr>
      </p:pic>
      <p:pic>
        <p:nvPicPr>
          <p:cNvPr id="13" name="Picture 12" descr="f_595dae2d9468c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3487794"/>
            <a:ext cx="3330702" cy="326898"/>
          </a:xfrm>
          <a:prstGeom prst="rect">
            <a:avLst/>
          </a:prstGeom>
        </p:spPr>
      </p:pic>
      <p:pic>
        <p:nvPicPr>
          <p:cNvPr id="14" name="Picture 13" descr="f_69cb9c265fb1a1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3979284"/>
            <a:ext cx="1271016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Verificar </a:t>
            </a:r>
            <a:r>
              <a:rPr sz="1850" b="0">
                <a:solidFill>
                  <a:srgbClr val="000000"/>
                </a:solidFill>
                <a:latin typeface="Consolas"/>
              </a:rPr>
              <a:t>A = B</a:t>
            </a:r>
            <a:r>
              <a:rPr sz="1850" b="0">
                <a:solidFill>
                  <a:srgbClr val="000000"/>
                </a:solidFill>
                <a:latin typeface="Arial"/>
              </a:rPr>
              <a:t> equivale a verificar que la matriz diferencia es la </a:t>
            </a:r>
            <a:r>
              <a:rPr sz="1850" b="1">
                <a:solidFill>
                  <a:srgbClr val="000000"/>
                </a:solidFill>
                <a:latin typeface="Arial"/>
              </a:rPr>
              <a:t>matriz nula</a:t>
            </a:r>
            <a:r>
              <a:rPr sz="1850" b="0">
                <a:solidFill>
                  <a:srgbClr val="000000"/>
                </a:solidFill>
                <a:latin typeface="Arial"/>
              </a:rPr>
              <a:t>. Es el mismo criterio que se usa para comprobar que dos realizaciones de un sistema son idénticas.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DETERMINACIÓN DE 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3827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90" b="0">
                <a:solidFill>
                  <a:srgbClr val="000000"/>
                </a:solidFill>
                <a:latin typeface="Arial"/>
              </a:rPr>
              <a:t>Se busca el valor de los parámetros que hace iguales las dos matrices: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9723"/>
            <a:ext cx="10872216" cy="94434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209723"/>
            <a:ext cx="54864" cy="94434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e0d40533a3890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044" y="2374315"/>
            <a:ext cx="1784863" cy="61516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3263798"/>
          <a:ext cx="10872214" cy="1994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1664"/>
                <a:gridCol w="4348886"/>
                <a:gridCol w="3261664"/>
              </a:tblGrid>
              <a:tr h="434888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FFFFFF"/>
                          </a:solidFill>
                          <a:latin typeface="Arial"/>
                        </a:rPr>
                        <a:t>POSICIÓN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FFFFFF"/>
                          </a:solidFill>
                          <a:latin typeface="Arial"/>
                        </a:rPr>
                        <a:t>ECUACIÓN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</a:tr>
              <a:tr h="3899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(1,1)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Consolas"/>
                        </a:rPr>
                        <a:t>a =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a =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9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(1,2)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Consolas"/>
                        </a:rPr>
                        <a:t>3 = c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c = 3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  <a:tr h="3899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(2,1)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Consolas"/>
                        </a:rPr>
                        <a:t>−1 =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d = 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9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(2,2)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Consolas"/>
                        </a:rPr>
                        <a:t>b = 2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000000"/>
                          </a:solidFill>
                          <a:latin typeface="Arial"/>
                        </a:rPr>
                        <a:t>b = 2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" y="5387467"/>
            <a:ext cx="10872216" cy="22329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90" b="0">
                <a:solidFill>
                  <a:srgbClr val="000000"/>
                </a:solidFill>
                <a:latin typeface="Arial"/>
              </a:rPr>
              <a:t>Cada posición aporta </a:t>
            </a:r>
            <a:r>
              <a:rPr sz="1490" b="1">
                <a:solidFill>
                  <a:srgbClr val="000000"/>
                </a:solidFill>
                <a:latin typeface="Arial"/>
              </a:rPr>
              <a:t>una</a:t>
            </a:r>
            <a:r>
              <a:rPr sz="1490" b="0">
                <a:solidFill>
                  <a:srgbClr val="000000"/>
                </a:solidFill>
                <a:latin typeface="Arial"/>
              </a:rPr>
              <a:t> ecuación: la igualdad de matrices es un sistema, no una sola condición.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HALLE LOS 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Determine </a:t>
            </a:r>
            <a:r>
              <a:rPr sz="1950" b="0">
                <a:solidFill>
                  <a:srgbClr val="000000"/>
                </a:solidFill>
                <a:latin typeface="Consolas"/>
              </a:rPr>
              <a:t>x</a:t>
            </a:r>
            <a:r>
              <a:rPr sz="1950" b="0">
                <a:solidFill>
                  <a:srgbClr val="000000"/>
                </a:solidFill>
                <a:latin typeface="Arial"/>
              </a:rPr>
              <a:t>, </a:t>
            </a:r>
            <a:r>
              <a:rPr sz="1950" b="0">
                <a:solidFill>
                  <a:srgbClr val="000000"/>
                </a:solidFill>
                <a:latin typeface="Consolas"/>
              </a:rPr>
              <a:t>y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z</a:t>
            </a:r>
            <a:r>
              <a:rPr sz="1950" b="0">
                <a:solidFill>
                  <a:srgbClr val="000000"/>
                </a:solidFill>
                <a:latin typeface="Arial"/>
              </a:rPr>
              <a:t> para que se cumpla la igualdad:</a:t>
            </a:r>
          </a:p>
        </p:txBody>
      </p:sp>
      <p:pic>
        <p:nvPicPr>
          <p:cNvPr id="9" name="Picture 8" descr="f_ea23b7380c934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721" y="2788510"/>
            <a:ext cx="2937510" cy="845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83525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Indique además si existe algún valor de los parámetros que haga iguales las matrices </a:t>
            </a:r>
            <a:r>
              <a:rPr sz="1950" b="0">
                <a:solidFill>
                  <a:srgbClr val="000000"/>
                </a:solidFill>
                <a:latin typeface="Consolas"/>
              </a:rPr>
              <a:t>[1  2]</a:t>
            </a:r>
            <a:r>
              <a:rPr sz="1950" b="0">
                <a:solidFill>
                  <a:srgbClr val="000000"/>
                </a:solidFill>
                <a:latin typeface="Arial"/>
              </a:rPr>
              <a:t> y la matriz columna de elementos 1 y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IGUALDAD DE MATRICES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171221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171221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84705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8a0f7d2b2e54af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796" y="2321204"/>
            <a:ext cx="1729359" cy="213741"/>
          </a:xfrm>
          <a:prstGeom prst="rect">
            <a:avLst/>
          </a:prstGeom>
        </p:spPr>
      </p:pic>
      <p:pic>
        <p:nvPicPr>
          <p:cNvPr id="12" name="Picture 11" descr="f_79f8ddbf03f163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376" y="2674848"/>
            <a:ext cx="2042198" cy="258432"/>
          </a:xfrm>
          <a:prstGeom prst="rect">
            <a:avLst/>
          </a:prstGeom>
        </p:spPr>
      </p:pic>
      <p:pic>
        <p:nvPicPr>
          <p:cNvPr id="13" name="Picture 12" descr="f_377786756300ff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6258" y="3073184"/>
            <a:ext cx="736434" cy="2195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3751326"/>
            <a:ext cx="10872216" cy="1097965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751326"/>
            <a:ext cx="54864" cy="1097965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44594"/>
            <a:ext cx="104150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SOBRE LA SEGUNDA PREGUNTA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18914"/>
            <a:ext cx="10415016" cy="6755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64" b="0">
                <a:solidFill>
                  <a:srgbClr val="000000"/>
                </a:solidFill>
                <a:latin typeface="Arial"/>
              </a:rPr>
              <a:t>No existe ningún valor: </a:t>
            </a:r>
            <a:r>
              <a:rPr sz="1664" b="0">
                <a:solidFill>
                  <a:srgbClr val="000000"/>
                </a:solidFill>
                <a:latin typeface="Consolas"/>
              </a:rPr>
              <a:t>[1  2]</a:t>
            </a:r>
            <a:r>
              <a:rPr sz="1664" b="0">
                <a:solidFill>
                  <a:srgbClr val="000000"/>
                </a:solidFill>
                <a:latin typeface="Arial"/>
              </a:rPr>
              <a:t> es de orden </a:t>
            </a:r>
            <a:r>
              <a:rPr sz="1664" b="0">
                <a:solidFill>
                  <a:srgbClr val="000000"/>
                </a:solidFill>
                <a:latin typeface="Consolas"/>
              </a:rPr>
              <a:t>1x2</a:t>
            </a:r>
            <a:r>
              <a:rPr sz="1664" b="0">
                <a:solidFill>
                  <a:srgbClr val="000000"/>
                </a:solidFill>
                <a:latin typeface="Arial"/>
              </a:rPr>
              <a:t> y la columna es </a:t>
            </a:r>
            <a:r>
              <a:rPr sz="1664" b="0">
                <a:solidFill>
                  <a:srgbClr val="000000"/>
                </a:solidFill>
                <a:latin typeface="Consolas"/>
              </a:rPr>
              <a:t>2x1</a:t>
            </a:r>
            <a:r>
              <a:rPr sz="1664" b="0">
                <a:solidFill>
                  <a:srgbClr val="000000"/>
                </a:solidFill>
                <a:latin typeface="Arial"/>
              </a:rPr>
              <a:t>. Al no coincidir el orden </a:t>
            </a:r>
            <a:r>
              <a:rPr sz="1664" b="1">
                <a:solidFill>
                  <a:srgbClr val="000000"/>
                </a:solidFill>
                <a:latin typeface="Arial"/>
              </a:rPr>
              <a:t>la igualdad ni siquiera está definida</a:t>
            </a:r>
            <a:r>
              <a:rPr sz="1664" b="0">
                <a:solidFill>
                  <a:srgbClr val="000000"/>
                </a:solidFill>
                <a:latin typeface="Arial"/>
              </a:rPr>
              <a:t>, independientemente de los números que contengan.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64734"/>
            <a:ext cx="10872216" cy="5140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14" b="0">
                <a:solidFill>
                  <a:srgbClr val="000000"/>
                </a:solidFill>
                <a:latin typeface="Arial"/>
              </a:rPr>
              <a:t>Una matriz y su transpuesta contienen la misma información pero no son iguales, salvo que la matriz sea simétrica.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SUMA Y RESTA ELEMENTO A ELEMENTO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 suma y la resta solo están definidas entre matrices del </a:t>
            </a:r>
            <a:r>
              <a:rPr sz="1950" b="1">
                <a:solidFill>
                  <a:srgbClr val="000000"/>
                </a:solidFill>
                <a:latin typeface="Arial"/>
              </a:rPr>
              <a:t>mismo orden</a:t>
            </a:r>
            <a:r>
              <a:rPr sz="1950" b="0">
                <a:solidFill>
                  <a:srgbClr val="000000"/>
                </a:solidFill>
                <a:latin typeface="Arial"/>
              </a:rPr>
              <a:t>, y se hacen posición por posición: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826"/>
            <a:ext cx="10872216" cy="87553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779826"/>
            <a:ext cx="54864" cy="87553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d91df81bfdebed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3054146"/>
            <a:ext cx="2414016" cy="3268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003649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En control esta operación aparece en el lugar más importante del curso: la matriz de lazo cerrado con realimentación de estados es una </a:t>
            </a:r>
            <a:r>
              <a:rPr sz="1950" b="1">
                <a:solidFill>
                  <a:srgbClr val="000000"/>
                </a:solidFill>
                <a:latin typeface="Arial"/>
              </a:rPr>
              <a:t>resta</a:t>
            </a:r>
            <a:r>
              <a:rPr sz="1950" b="0">
                <a:solidFill>
                  <a:srgbClr val="000000"/>
                </a:solidFill>
                <a:latin typeface="Arial"/>
              </a:rPr>
              <a:t> de matrices, </a:t>
            </a:r>
            <a:r>
              <a:rPr sz="1950" b="0">
                <a:solidFill>
                  <a:srgbClr val="000000"/>
                </a:solidFill>
                <a:latin typeface="Consolas"/>
              </a:rPr>
              <a:t>A − BK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Sumar matrices es sumar sistemas en paralelo; restar es lo que hace la realimentación con la dinámica del lazo abierto.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RESTA ES LA SUMA DEL OPUESTO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No hace falta definir la resta aparte. Se define la matriz opuesta y se reduce todo a una sola operación: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14422"/>
            <a:ext cx="10872216" cy="2068829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14422"/>
            <a:ext cx="54864" cy="2068829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733294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1bd05eea563cf2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085" y="3080766"/>
            <a:ext cx="1684782" cy="326898"/>
          </a:xfrm>
          <a:prstGeom prst="rect">
            <a:avLst/>
          </a:prstGeom>
        </p:spPr>
      </p:pic>
      <p:pic>
        <p:nvPicPr>
          <p:cNvPr id="13" name="Picture 12" descr="f_4bfbac1247e574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189" y="3572256"/>
            <a:ext cx="2306574" cy="294894"/>
          </a:xfrm>
          <a:prstGeom prst="rect">
            <a:avLst/>
          </a:prstGeom>
        </p:spPr>
      </p:pic>
      <p:pic>
        <p:nvPicPr>
          <p:cNvPr id="14" name="Picture 13" descr="f_fc6dc338c161b6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082" y="4031742"/>
            <a:ext cx="1732788" cy="2948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matriz nula es el </a:t>
            </a:r>
            <a:r>
              <a:rPr sz="1850" b="1">
                <a:solidFill>
                  <a:srgbClr val="000000"/>
                </a:solidFill>
                <a:latin typeface="Arial"/>
              </a:rPr>
              <a:t>elemento neutro</a:t>
            </a:r>
            <a:r>
              <a:rPr sz="1850" b="0">
                <a:solidFill>
                  <a:srgbClr val="000000"/>
                </a:solidFill>
                <a:latin typeface="Arial"/>
              </a:rPr>
              <a:t> de la suma, igual que el cero en los reales. Toda la aritmética aditiva se hereda de ahí.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SUMA Y RESTA DE DOS MATRICES 2×2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71995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14" b="0">
                <a:solidFill>
                  <a:srgbClr val="000000"/>
                </a:solidFill>
                <a:latin typeface="Arial"/>
              </a:rPr>
              <a:t>Con las matrices de trabajo </a:t>
            </a:r>
            <a:r>
              <a:rPr sz="1814" b="0">
                <a:solidFill>
                  <a:srgbClr val="000000"/>
                </a:solidFill>
                <a:latin typeface="Consolas"/>
              </a:rPr>
              <a:t>A</a:t>
            </a:r>
            <a:r>
              <a:rPr sz="1814" b="0">
                <a:solidFill>
                  <a:srgbClr val="000000"/>
                </a:solidFill>
                <a:latin typeface="Arial"/>
              </a:rPr>
              <a:t> y </a:t>
            </a:r>
            <a:r>
              <a:rPr sz="1814" b="0">
                <a:solidFill>
                  <a:srgbClr val="000000"/>
                </a:solidFill>
                <a:latin typeface="Consolas"/>
              </a:rPr>
              <a:t>B</a:t>
            </a:r>
            <a:r>
              <a:rPr sz="1814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pic>
        <p:nvPicPr>
          <p:cNvPr id="9" name="Picture 8" descr="f_73206816b3b258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094" y="2334882"/>
            <a:ext cx="2910763" cy="6625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207791"/>
            <a:ext cx="10872216" cy="220770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207791"/>
            <a:ext cx="54864" cy="220770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308832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3" name="Picture 12" descr="f_192cbc5164aaa1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971" y="3645331"/>
            <a:ext cx="1673009" cy="668426"/>
          </a:xfrm>
          <a:prstGeom prst="rect">
            <a:avLst/>
          </a:prstGeom>
        </p:spPr>
      </p:pic>
      <p:pic>
        <p:nvPicPr>
          <p:cNvPr id="14" name="Picture 13" descr="f_e3bf9f99549eb8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085" y="4453661"/>
            <a:ext cx="1680781" cy="658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CALCULE LA MATRIZ DE LAZO CERRADO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 planta y la ganancia de realimentación</a:t>
            </a:r>
          </a:p>
        </p:txBody>
      </p:sp>
      <p:pic>
        <p:nvPicPr>
          <p:cNvPr id="9" name="Picture 8" descr="f_b9b5ecbea56870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292" y="2788539"/>
            <a:ext cx="5230368" cy="784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1861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primero el producto </a:t>
            </a:r>
            <a:r>
              <a:rPr sz="1950" b="0">
                <a:solidFill>
                  <a:srgbClr val="000000"/>
                </a:solidFill>
                <a:latin typeface="Consolas"/>
              </a:rPr>
              <a:t>BK</a:t>
            </a:r>
            <a:r>
              <a:rPr sz="1950" b="0">
                <a:solidFill>
                  <a:srgbClr val="000000"/>
                </a:solidFill>
                <a:latin typeface="Arial"/>
              </a:rPr>
              <a:t> y después la matriz de lazo cerrado </a:t>
            </a:r>
            <a:r>
              <a:rPr sz="1950" b="0">
                <a:solidFill>
                  <a:srgbClr val="000000"/>
                </a:solidFill>
                <a:latin typeface="Consolas"/>
              </a:rPr>
              <a:t>A − BK</a:t>
            </a:r>
            <a:r>
              <a:rPr sz="1950" b="0">
                <a:solidFill>
                  <a:srgbClr val="000000"/>
                </a:solidFill>
                <a:latin typeface="Arial"/>
              </a:rPr>
              <a:t>. Verifique que el orden de </a:t>
            </a:r>
            <a:r>
              <a:rPr sz="1950" b="0">
                <a:solidFill>
                  <a:srgbClr val="000000"/>
                </a:solidFill>
                <a:latin typeface="Consolas"/>
              </a:rPr>
              <a:t>BK</a:t>
            </a:r>
            <a:r>
              <a:rPr sz="1950" b="0">
                <a:solidFill>
                  <a:srgbClr val="000000"/>
                </a:solidFill>
                <a:latin typeface="Arial"/>
              </a:rPr>
              <a:t> permite la resta.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SUMA Y RESTA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55346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55346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6e947d64f7d92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401" y="2350008"/>
            <a:ext cx="3486150" cy="779526"/>
          </a:xfrm>
          <a:prstGeom prst="rect">
            <a:avLst/>
          </a:prstGeom>
        </p:spPr>
      </p:pic>
      <p:pic>
        <p:nvPicPr>
          <p:cNvPr id="12" name="Picture 11" descr="f_8aa1d402508a2b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883" y="3294126"/>
            <a:ext cx="2631186" cy="7863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Consolas"/>
              </a:rPr>
              <a:t>BK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2x1</a:t>
            </a:r>
            <a:r>
              <a:rPr sz="1850" b="0">
                <a:solidFill>
                  <a:srgbClr val="000000"/>
                </a:solidFill>
                <a:latin typeface="Arial"/>
              </a:rPr>
              <a:t> por </a:t>
            </a:r>
            <a:r>
              <a:rPr sz="1850" b="0">
                <a:solidFill>
                  <a:srgbClr val="000000"/>
                </a:solidFill>
                <a:latin typeface="Consolas"/>
              </a:rPr>
              <a:t>1x2</a:t>
            </a:r>
            <a:r>
              <a:rPr sz="1850" b="0">
                <a:solidFill>
                  <a:srgbClr val="000000"/>
                </a:solidFill>
                <a:latin typeface="Arial"/>
              </a:rPr>
              <a:t>, luego </a:t>
            </a:r>
            <a:r>
              <a:rPr sz="1850" b="0">
                <a:solidFill>
                  <a:srgbClr val="000000"/>
                </a:solidFill>
                <a:latin typeface="Consolas"/>
              </a:rPr>
              <a:t>2x2</a:t>
            </a:r>
            <a:r>
              <a:rPr sz="1850" b="0">
                <a:solidFill>
                  <a:srgbClr val="000000"/>
                </a:solidFill>
                <a:latin typeface="Arial"/>
              </a:rPr>
              <a:t>: la resta está bien definida. Los autovalores pasaron de −1 y −2 a </a:t>
            </a:r>
            <a:r>
              <a:rPr sz="1850" b="1">
                <a:solidFill>
                  <a:srgbClr val="000000"/>
                </a:solidFill>
                <a:latin typeface="Arial"/>
              </a:rPr>
              <a:t>−2 y −3</a:t>
            </a:r>
            <a:r>
              <a:rPr sz="1850" b="0">
                <a:solidFill>
                  <a:srgbClr val="000000"/>
                </a:solidFill>
                <a:latin typeface="Arial"/>
              </a:rPr>
              <a:t>; esa resta de matrices es el diseño por ubicación de polos que se verá en la semana 14.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SUMA NO DEPENDE DEL AGRUPAMIENTO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Al sumar tres o más matrices del mismo orden, los paréntesis no alteran el resultado: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57125"/>
            <a:ext cx="10872216" cy="84353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57125"/>
            <a:ext cx="54864" cy="84353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9a9e225a221fd7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931445"/>
            <a:ext cx="3387852" cy="2948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018470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Por eso se escribe </a:t>
            </a:r>
            <a:r>
              <a:rPr sz="1950" b="0">
                <a:solidFill>
                  <a:srgbClr val="000000"/>
                </a:solidFill>
                <a:latin typeface="Consolas"/>
              </a:rPr>
              <a:t>A + B + C</a:t>
            </a:r>
            <a:r>
              <a:rPr sz="1950" b="0">
                <a:solidFill>
                  <a:srgbClr val="000000"/>
                </a:solidFill>
                <a:latin typeface="Arial"/>
              </a:rPr>
              <a:t> sin paréntesis: la expresión no es ambigua.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Esta propiedad es la que permite agrupar libremente los términos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A − BK − LC</a:t>
            </a:r>
            <a:r>
              <a:rPr sz="1850" b="0">
                <a:solidFill>
                  <a:srgbClr val="000000"/>
                </a:solidFill>
                <a:latin typeface="Arial"/>
              </a:rPr>
              <a:t> al construir un compensador con observador.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SE HEREDA DE LOS NÚMEROS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 demostración es inmediata porque la suma se define posición por posición, y en cada posición hay una suma de reales: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14422"/>
            <a:ext cx="10872216" cy="213055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14422"/>
            <a:ext cx="54864" cy="213055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733294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eb30edfbcd9208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37" y="3080766"/>
            <a:ext cx="4053078" cy="326898"/>
          </a:xfrm>
          <a:prstGeom prst="rect">
            <a:avLst/>
          </a:prstGeom>
        </p:spPr>
      </p:pic>
      <p:pic>
        <p:nvPicPr>
          <p:cNvPr id="13" name="Picture 12" descr="f_09d88ec06fc1d6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774" y="3572256"/>
            <a:ext cx="2089404" cy="326898"/>
          </a:xfrm>
          <a:prstGeom prst="rect">
            <a:avLst/>
          </a:prstGeom>
        </p:spPr>
      </p:pic>
      <p:pic>
        <p:nvPicPr>
          <p:cNvPr id="14" name="Picture 13" descr="f_2e3f943d35057c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054" y="4063746"/>
            <a:ext cx="2180844" cy="3246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paso central es la asociatividad </a:t>
            </a:r>
            <a:r>
              <a:rPr sz="1850" b="1">
                <a:solidFill>
                  <a:srgbClr val="000000"/>
                </a:solidFill>
                <a:latin typeface="Arial"/>
              </a:rPr>
              <a:t>de los reales</a:t>
            </a:r>
            <a:r>
              <a:rPr sz="1850" b="0">
                <a:solidFill>
                  <a:srgbClr val="000000"/>
                </a:solidFill>
                <a:latin typeface="Arial"/>
              </a:rPr>
              <a:t>. Las matrices no aportan nada nuevo: heredan la propiedad de sus elementos.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VERIFICACIÓN CON TRES MATRICES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EJEMPLO</a:t>
            </a:r>
          </a:p>
        </p:txBody>
      </p:sp>
      <p:pic>
        <p:nvPicPr>
          <p:cNvPr id="8" name="Picture 7" descr="f_9c3400ac388f23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865" y="1938528"/>
            <a:ext cx="5201221" cy="7448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2912021"/>
            <a:ext cx="10872216" cy="244602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912021"/>
            <a:ext cx="54864" cy="244602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024949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f8967e3d579c4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836" y="3368763"/>
            <a:ext cx="4291279" cy="747064"/>
          </a:xfrm>
          <a:prstGeom prst="rect">
            <a:avLst/>
          </a:prstGeom>
        </p:spPr>
      </p:pic>
      <p:pic>
        <p:nvPicPr>
          <p:cNvPr id="13" name="Picture 12" descr="f_889b9feda5bc2e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532" y="4272191"/>
            <a:ext cx="4121886" cy="7470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COMPRUEBE LA ASOCIATIVIDAD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las matrices</a:t>
            </a:r>
          </a:p>
        </p:txBody>
      </p:sp>
      <p:pic>
        <p:nvPicPr>
          <p:cNvPr id="9" name="Picture 8" descr="f_de0993c2b10898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714" y="2788539"/>
            <a:ext cx="5335524" cy="784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1861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</a:t>
            </a:r>
            <a:r>
              <a:rPr sz="1950" b="0">
                <a:solidFill>
                  <a:srgbClr val="000000"/>
                </a:solidFill>
                <a:latin typeface="Consolas"/>
              </a:rPr>
              <a:t>(P + Q) + R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P + (Q + R)</a:t>
            </a:r>
            <a:r>
              <a:rPr sz="1950" b="0">
                <a:solidFill>
                  <a:srgbClr val="000000"/>
                </a:solidFill>
                <a:latin typeface="Arial"/>
              </a:rPr>
              <a:t> por separado y compare. Indique cuántas sumas de números hizo en cada camino.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LEY ASOCIATIVA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56032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56032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188addb9db9a08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342" y="2350008"/>
            <a:ext cx="4430268" cy="786384"/>
          </a:xfrm>
          <a:prstGeom prst="rect">
            <a:avLst/>
          </a:prstGeom>
        </p:spPr>
      </p:pic>
      <p:pic>
        <p:nvPicPr>
          <p:cNvPr id="12" name="Picture 11" descr="f_97b23bc23fc1eb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3300984"/>
            <a:ext cx="4473702" cy="7863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Ocho sumas por cada camino: el mismo costo. La asociatividad no ahorra cuentas en la suma, pero sí </a:t>
            </a:r>
            <a:r>
              <a:rPr sz="1850" b="1">
                <a:solidFill>
                  <a:srgbClr val="000000"/>
                </a:solidFill>
                <a:latin typeface="Arial"/>
              </a:rPr>
              <a:t>libera el orden de los cálculos</a:t>
            </a:r>
            <a:r>
              <a:rPr sz="1850" b="0">
                <a:solidFill>
                  <a:srgbClr val="000000"/>
                </a:solidFill>
                <a:latin typeface="Arial"/>
              </a:rPr>
              <a:t>, que es lo que aprovechan las rutinas numéricas.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SUMA SÍ CONMUTA; EL PRODUCTO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1.4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orden de los sumandos no altera la suma: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98775"/>
            <a:ext cx="10872216" cy="79095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498775"/>
            <a:ext cx="54864" cy="79095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b1cbcdbcb83555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18" y="2773095"/>
            <a:ext cx="1842516" cy="2423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" y="3649192"/>
            <a:ext cx="10872216" cy="117957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49192"/>
            <a:ext cx="54864" cy="117957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758920"/>
            <a:ext cx="104150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ADVERTENCIA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33240"/>
            <a:ext cx="10415016" cy="7406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La conmutatividad vale para la </a:t>
            </a:r>
            <a:r>
              <a:rPr sz="1800" b="1">
                <a:solidFill>
                  <a:srgbClr val="000000"/>
                </a:solidFill>
                <a:latin typeface="Arial"/>
              </a:rPr>
              <a:t>suma</a:t>
            </a:r>
            <a:r>
              <a:rPr sz="1800" b="0">
                <a:solidFill>
                  <a:srgbClr val="000000"/>
                </a:solidFill>
                <a:latin typeface="Arial"/>
              </a:rPr>
              <a:t>. En el producto, en cambio, </a:t>
            </a:r>
            <a:r>
              <a:rPr sz="1800" b="0">
                <a:solidFill>
                  <a:srgbClr val="000000"/>
                </a:solidFill>
                <a:latin typeface="Consolas"/>
              </a:rPr>
              <a:t>AB ≠ BA</a:t>
            </a:r>
            <a:r>
              <a:rPr sz="1800" b="0">
                <a:solidFill>
                  <a:srgbClr val="000000"/>
                </a:solidFill>
                <a:latin typeface="Arial"/>
              </a:rPr>
              <a:t> salvo casos particulares. Es el error más frecuente al operar con matrices por primera vez.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resta, como en los reales, </a:t>
            </a:r>
            <a:r>
              <a:rPr sz="1850" b="1">
                <a:solidFill>
                  <a:srgbClr val="000000"/>
                </a:solidFill>
                <a:latin typeface="Arial"/>
              </a:rPr>
              <a:t>no conmuta</a:t>
            </a:r>
            <a:r>
              <a:rPr sz="1850" b="0">
                <a:solidFill>
                  <a:srgbClr val="000000"/>
                </a:solidFill>
                <a:latin typeface="Arial"/>
              </a:rPr>
              <a:t>: </a:t>
            </a:r>
            <a:r>
              <a:rPr sz="1850" b="0">
                <a:solidFill>
                  <a:srgbClr val="000000"/>
                </a:solidFill>
                <a:latin typeface="Consolas"/>
              </a:rPr>
              <a:t>A − B = −(B − A)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TAMBIÉN SE HEREDA POSICIÓN POR 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1.4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argumento es el mismo de la ley asociativa, aplicado a la conmutatividad de los reales: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25388"/>
            <a:ext cx="10872216" cy="213055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25388"/>
            <a:ext cx="54864" cy="213055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44260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b85992fe1d7b2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2991732"/>
            <a:ext cx="2414016" cy="326898"/>
          </a:xfrm>
          <a:prstGeom prst="rect">
            <a:avLst/>
          </a:prstGeom>
        </p:spPr>
      </p:pic>
      <p:pic>
        <p:nvPicPr>
          <p:cNvPr id="13" name="Picture 12" descr="f_81469ffd08b864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542" y="3483222"/>
            <a:ext cx="1229868" cy="326898"/>
          </a:xfrm>
          <a:prstGeom prst="rect">
            <a:avLst/>
          </a:prstGeom>
        </p:spPr>
      </p:pic>
      <p:pic>
        <p:nvPicPr>
          <p:cNvPr id="14" name="Picture 13" descr="f_acd811f864069b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532" y="3974712"/>
            <a:ext cx="1389888" cy="3246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Todas las propiedades </a:t>
            </a:r>
            <a:r>
              <a:rPr sz="1850" b="1">
                <a:solidFill>
                  <a:srgbClr val="000000"/>
                </a:solidFill>
                <a:latin typeface="Arial"/>
              </a:rPr>
              <a:t>aditivas</a:t>
            </a:r>
            <a:r>
              <a:rPr sz="1850" b="0">
                <a:solidFill>
                  <a:srgbClr val="000000"/>
                </a:solidFill>
                <a:latin typeface="Arial"/>
              </a:rPr>
              <a:t> de las matrices se demuestran así. Las multiplicativas no, y por eso hay que tratarlas aparte.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SUMA FRENTE A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1.4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Con las mismas </a:t>
            </a:r>
            <a:r>
              <a:rPr sz="1950" b="0">
                <a:solidFill>
                  <a:srgbClr val="000000"/>
                </a:solidFill>
                <a:latin typeface="Consolas"/>
              </a:rPr>
              <a:t>A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B</a:t>
            </a:r>
            <a:r>
              <a:rPr sz="1950" b="0">
                <a:solidFill>
                  <a:srgbClr val="000000"/>
                </a:solidFill>
                <a:latin typeface="Arial"/>
              </a:rPr>
              <a:t> del subtema 1.2: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511907"/>
          <a:ext cx="10872214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6347"/>
                <a:gridCol w="5177245"/>
                <a:gridCol w="2588622"/>
              </a:tblGrid>
              <a:tr h="53035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OPERACIÓN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¿CONMUTA?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 +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[[1, 3], [2, 6]]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 + 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[[1, 3], [2, 6]]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 ·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[[−2, 5], [−4, 11]]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 · 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[[3, 4], [5, 6]]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Mismas matrices, mismas posiciones: la suma coincide y el producto no se parece en nada.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VERIFIQUE QUÉ CONMUTA Y QUÉ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1.4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las matrices</a:t>
            </a:r>
          </a:p>
        </p:txBody>
      </p:sp>
      <p:pic>
        <p:nvPicPr>
          <p:cNvPr id="9" name="Picture 8" descr="f_50467548460231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827" y="2788539"/>
            <a:ext cx="3527298" cy="784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1861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</a:t>
            </a:r>
            <a:r>
              <a:rPr sz="1950" b="0">
                <a:solidFill>
                  <a:srgbClr val="000000"/>
                </a:solidFill>
                <a:latin typeface="Consolas"/>
              </a:rPr>
              <a:t>M + N</a:t>
            </a:r>
            <a:r>
              <a:rPr sz="1950" b="0">
                <a:solidFill>
                  <a:srgbClr val="000000"/>
                </a:solidFill>
                <a:latin typeface="Arial"/>
              </a:rPr>
              <a:t>, </a:t>
            </a:r>
            <a:r>
              <a:rPr sz="1950" b="0">
                <a:solidFill>
                  <a:srgbClr val="000000"/>
                </a:solidFill>
                <a:latin typeface="Consolas"/>
              </a:rPr>
              <a:t>N + M</a:t>
            </a:r>
            <a:r>
              <a:rPr sz="1950" b="0">
                <a:solidFill>
                  <a:srgbClr val="000000"/>
                </a:solidFill>
                <a:latin typeface="Arial"/>
              </a:rPr>
              <a:t>, </a:t>
            </a:r>
            <a:r>
              <a:rPr sz="1950" b="0">
                <a:solidFill>
                  <a:srgbClr val="000000"/>
                </a:solidFill>
                <a:latin typeface="Consolas"/>
              </a:rPr>
              <a:t>M·N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N·M</a:t>
            </a:r>
            <a:r>
              <a:rPr sz="1950" b="0">
                <a:solidFill>
                  <a:srgbClr val="000000"/>
                </a:solidFill>
                <a:latin typeface="Arial"/>
              </a:rPr>
              <a:t>. Diga cuáles coinciden y explique por qué.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1.4 · LEY CONMUTATIVA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55117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55117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edeee2c1f1596a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73" y="2350008"/>
            <a:ext cx="3248406" cy="777240"/>
          </a:xfrm>
          <a:prstGeom prst="rect">
            <a:avLst/>
          </a:prstGeom>
        </p:spPr>
      </p:pic>
      <p:pic>
        <p:nvPicPr>
          <p:cNvPr id="12" name="Picture 11" descr="f_d3956dfc2dccf0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639" y="3291839"/>
            <a:ext cx="4249674" cy="7863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suma coincide porque se hace posición por posición; el producto no, porque </a:t>
            </a:r>
            <a:r>
              <a:rPr sz="1850" b="1">
                <a:solidFill>
                  <a:srgbClr val="000000"/>
                </a:solidFill>
                <a:latin typeface="Arial"/>
              </a:rPr>
              <a:t>mezcla filas de la primera con columnas de la segunda</a:t>
            </a:r>
            <a:r>
              <a:rPr sz="1850" b="0">
                <a:solidFill>
                  <a:srgbClr val="000000"/>
                </a:solidFill>
                <a:latin typeface="Arial"/>
              </a:rPr>
              <a:t>, y ese cruce cambia al invertir el orden.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MULTIPLICACIÓN DE MATRICES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TEMA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2383"/>
            <a:ext cx="10872216" cy="14264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2.1  Multiplicación de matrices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2.2  Reglas de la multiplicación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2.3  Multiplicación por un escalar 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FILAS POR COLUMNAS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elemento </a:t>
            </a:r>
            <a:r>
              <a:rPr sz="1950" b="0">
                <a:solidFill>
                  <a:srgbClr val="000000"/>
                </a:solidFill>
                <a:latin typeface="Consolas"/>
              </a:rPr>
              <a:t>(i, j)</a:t>
            </a:r>
            <a:r>
              <a:rPr sz="1950" b="0">
                <a:solidFill>
                  <a:srgbClr val="000000"/>
                </a:solidFill>
                <a:latin typeface="Arial"/>
              </a:rPr>
              <a:t> del producto es el </a:t>
            </a:r>
            <a:r>
              <a:rPr sz="1950" b="1">
                <a:solidFill>
                  <a:srgbClr val="000000"/>
                </a:solidFill>
                <a:latin typeface="Arial"/>
              </a:rPr>
              <a:t>producto punto</a:t>
            </a:r>
            <a:r>
              <a:rPr sz="1950" b="0">
                <a:solidFill>
                  <a:srgbClr val="000000"/>
                </a:solidFill>
                <a:latin typeface="Arial"/>
              </a:rPr>
              <a:t> entre la fila </a:t>
            </a:r>
            <a:r>
              <a:rPr sz="1950" b="0">
                <a:solidFill>
                  <a:srgbClr val="000000"/>
                </a:solidFill>
                <a:latin typeface="Consolas"/>
              </a:rPr>
              <a:t>i</a:t>
            </a:r>
            <a:r>
              <a:rPr sz="1950" b="0">
                <a:solidFill>
                  <a:srgbClr val="000000"/>
                </a:solidFill>
                <a:latin typeface="Arial"/>
              </a:rPr>
              <a:t> de la primera matriz y la columna </a:t>
            </a:r>
            <a:r>
              <a:rPr sz="1950" b="0">
                <a:solidFill>
                  <a:srgbClr val="000000"/>
                </a:solidFill>
                <a:latin typeface="Consolas"/>
              </a:rPr>
              <a:t>j</a:t>
            </a:r>
            <a:r>
              <a:rPr sz="1950" b="0">
                <a:solidFill>
                  <a:srgbClr val="000000"/>
                </a:solidFill>
                <a:latin typeface="Arial"/>
              </a:rPr>
              <a:t> de la segunda: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14422"/>
            <a:ext cx="10872216" cy="1303019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14422"/>
            <a:ext cx="54864" cy="1303019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af3ad1a9c4685f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888742"/>
            <a:ext cx="1874519" cy="7543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" y="4100322"/>
            <a:ext cx="10872216" cy="117957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00322"/>
            <a:ext cx="54864" cy="117957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210050"/>
            <a:ext cx="104150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CONDICIÓN DE COMPATIBILIDAD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484370"/>
            <a:ext cx="10415016" cy="7406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El producto </a:t>
            </a:r>
            <a:r>
              <a:rPr sz="1800" b="0">
                <a:solidFill>
                  <a:srgbClr val="000000"/>
                </a:solidFill>
                <a:latin typeface="Consolas"/>
              </a:rPr>
              <a:t>AB</a:t>
            </a:r>
            <a:r>
              <a:rPr sz="1800" b="0">
                <a:solidFill>
                  <a:srgbClr val="000000"/>
                </a:solidFill>
                <a:latin typeface="Arial"/>
              </a:rPr>
              <a:t> existe solo si el número de </a:t>
            </a:r>
            <a:r>
              <a:rPr sz="1800" b="1">
                <a:solidFill>
                  <a:srgbClr val="000000"/>
                </a:solidFill>
                <a:latin typeface="Arial"/>
              </a:rPr>
              <a:t>columnas</a:t>
            </a:r>
            <a:r>
              <a:rPr sz="1800" b="0">
                <a:solidFill>
                  <a:srgbClr val="000000"/>
                </a:solidFill>
                <a:latin typeface="Arial"/>
              </a:rPr>
              <a:t> de </a:t>
            </a:r>
            <a:r>
              <a:rPr sz="1800" b="0">
                <a:solidFill>
                  <a:srgbClr val="000000"/>
                </a:solidFill>
                <a:latin typeface="Consolas"/>
              </a:rPr>
              <a:t>A</a:t>
            </a:r>
            <a:r>
              <a:rPr sz="1800" b="0">
                <a:solidFill>
                  <a:srgbClr val="000000"/>
                </a:solidFill>
                <a:latin typeface="Arial"/>
              </a:rPr>
              <a:t> iguala el número de </a:t>
            </a:r>
            <a:r>
              <a:rPr sz="1800" b="1">
                <a:solidFill>
                  <a:srgbClr val="000000"/>
                </a:solidFill>
                <a:latin typeface="Arial"/>
              </a:rPr>
              <a:t>filas</a:t>
            </a:r>
            <a:r>
              <a:rPr sz="1800" b="0">
                <a:solidFill>
                  <a:srgbClr val="000000"/>
                </a:solidFill>
                <a:latin typeface="Arial"/>
              </a:rPr>
              <a:t> de </a:t>
            </a:r>
            <a:r>
              <a:rPr sz="1800" b="0">
                <a:solidFill>
                  <a:srgbClr val="000000"/>
                </a:solidFill>
                <a:latin typeface="Consolas"/>
              </a:rPr>
              <a:t>B</a:t>
            </a:r>
            <a:r>
              <a:rPr sz="1800" b="0">
                <a:solidFill>
                  <a:srgbClr val="000000"/>
                </a:solidFill>
                <a:latin typeface="Arial"/>
              </a:rPr>
              <a:t>. Si </a:t>
            </a:r>
            <a:r>
              <a:rPr sz="1800" b="0">
                <a:solidFill>
                  <a:srgbClr val="000000"/>
                </a:solidFill>
                <a:latin typeface="Consolas"/>
              </a:rPr>
              <a:t>A</a:t>
            </a:r>
            <a:r>
              <a:rPr sz="1800" b="0">
                <a:solidFill>
                  <a:srgbClr val="000000"/>
                </a:solidFill>
                <a:latin typeface="Arial"/>
              </a:rPr>
              <a:t> es </a:t>
            </a:r>
            <a:r>
              <a:rPr sz="1800" b="0">
                <a:solidFill>
                  <a:srgbClr val="000000"/>
                </a:solidFill>
                <a:latin typeface="Consolas"/>
              </a:rPr>
              <a:t>n×m</a:t>
            </a:r>
            <a:r>
              <a:rPr sz="1800" b="0">
                <a:solidFill>
                  <a:srgbClr val="000000"/>
                </a:solidFill>
                <a:latin typeface="Arial"/>
              </a:rPr>
              <a:t> y </a:t>
            </a:r>
            <a:r>
              <a:rPr sz="1800" b="0">
                <a:solidFill>
                  <a:srgbClr val="000000"/>
                </a:solidFill>
                <a:latin typeface="Consolas"/>
              </a:rPr>
              <a:t>B</a:t>
            </a:r>
            <a:r>
              <a:rPr sz="1800" b="0">
                <a:solidFill>
                  <a:srgbClr val="000000"/>
                </a:solidFill>
                <a:latin typeface="Arial"/>
              </a:rPr>
              <a:t> es </a:t>
            </a:r>
            <a:r>
              <a:rPr sz="1800" b="0">
                <a:solidFill>
                  <a:srgbClr val="000000"/>
                </a:solidFill>
                <a:latin typeface="Consolas"/>
              </a:rPr>
              <a:t>m×p</a:t>
            </a:r>
            <a:r>
              <a:rPr sz="1800" b="0">
                <a:solidFill>
                  <a:srgbClr val="000000"/>
                </a:solidFill>
                <a:latin typeface="Arial"/>
              </a:rPr>
              <a:t>, entonces </a:t>
            </a:r>
            <a:r>
              <a:rPr sz="1800" b="0">
                <a:solidFill>
                  <a:srgbClr val="000000"/>
                </a:solidFill>
                <a:latin typeface="Consolas"/>
              </a:rPr>
              <a:t>AB</a:t>
            </a:r>
            <a:r>
              <a:rPr sz="1800" b="0">
                <a:solidFill>
                  <a:srgbClr val="000000"/>
                </a:solidFill>
                <a:latin typeface="Arial"/>
              </a:rPr>
              <a:t> es </a:t>
            </a:r>
            <a:r>
              <a:rPr sz="1800" b="0">
                <a:solidFill>
                  <a:srgbClr val="000000"/>
                </a:solidFill>
                <a:latin typeface="Consolas"/>
              </a:rPr>
              <a:t>n×p</a:t>
            </a:r>
            <a:r>
              <a:rPr sz="1800" b="0">
                <a:solidFill>
                  <a:srgbClr val="000000"/>
                </a:solidFill>
                <a:latin typeface="Arial"/>
              </a:rPr>
              <a:t>: las dimensiones interiores se cancelan.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EL PRODUCTO ES COMPOSICIÓN DE TRANSFORMACIONES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652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70" b="0">
                <a:solidFill>
                  <a:srgbClr val="000000"/>
                </a:solidFill>
                <a:latin typeface="Arial"/>
              </a:rPr>
              <a:t>La definición no es arbitraria. Si </a:t>
            </a:r>
            <a:r>
              <a:rPr sz="1770" b="0">
                <a:solidFill>
                  <a:srgbClr val="000000"/>
                </a:solidFill>
                <a:latin typeface="Consolas"/>
              </a:rPr>
              <a:t>y = Ax</a:t>
            </a:r>
            <a:r>
              <a:rPr sz="1770" b="0">
                <a:solidFill>
                  <a:srgbClr val="000000"/>
                </a:solidFill>
                <a:latin typeface="Arial"/>
              </a:rPr>
              <a:t> y </a:t>
            </a:r>
            <a:r>
              <a:rPr sz="1770" b="0">
                <a:solidFill>
                  <a:srgbClr val="000000"/>
                </a:solidFill>
                <a:latin typeface="Consolas"/>
              </a:rPr>
              <a:t>z = By</a:t>
            </a:r>
            <a:r>
              <a:rPr sz="1770" b="0">
                <a:solidFill>
                  <a:srgbClr val="000000"/>
                </a:solidFill>
                <a:latin typeface="Arial"/>
              </a:rPr>
              <a:t>, el producto es la matriz que lleva </a:t>
            </a:r>
            <a:r>
              <a:rPr sz="1770" b="0">
                <a:solidFill>
                  <a:srgbClr val="000000"/>
                </a:solidFill>
                <a:latin typeface="Consolas"/>
              </a:rPr>
              <a:t>x</a:t>
            </a:r>
            <a:r>
              <a:rPr sz="1770" b="0">
                <a:solidFill>
                  <a:srgbClr val="000000"/>
                </a:solidFill>
                <a:latin typeface="Arial"/>
              </a:rPr>
              <a:t> directamente a </a:t>
            </a:r>
            <a:r>
              <a:rPr sz="1770" b="0">
                <a:solidFill>
                  <a:srgbClr val="000000"/>
                </a:solidFill>
                <a:latin typeface="Consolas"/>
              </a:rPr>
              <a:t>z</a:t>
            </a:r>
            <a:r>
              <a:rPr sz="177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65959"/>
            <a:ext cx="10872216" cy="243413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265959"/>
            <a:ext cx="54864" cy="243413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61057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262c8ca55f8606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46" y="2693898"/>
            <a:ext cx="1159459" cy="464515"/>
          </a:xfrm>
          <a:prstGeom prst="rect">
            <a:avLst/>
          </a:prstGeom>
        </p:spPr>
      </p:pic>
      <p:pic>
        <p:nvPicPr>
          <p:cNvPr id="13" name="Picture 12" descr="f_9987545a31c275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602" y="3290087"/>
            <a:ext cx="1177747" cy="495604"/>
          </a:xfrm>
          <a:prstGeom prst="rect">
            <a:avLst/>
          </a:prstGeom>
        </p:spPr>
      </p:pic>
      <p:pic>
        <p:nvPicPr>
          <p:cNvPr id="14" name="Picture 13" descr="f_34dba8d2adf59b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777" y="3917365"/>
            <a:ext cx="3403396" cy="4974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84622"/>
            <a:ext cx="10872216" cy="5005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70" b="0">
                <a:solidFill>
                  <a:srgbClr val="000000"/>
                </a:solidFill>
                <a:latin typeface="Arial"/>
              </a:rPr>
              <a:t>El paréntesis es exactamente </a:t>
            </a:r>
            <a:r>
              <a:rPr sz="1670" b="0">
                <a:solidFill>
                  <a:srgbClr val="000000"/>
                </a:solidFill>
                <a:latin typeface="Consolas"/>
              </a:rPr>
              <a:t>(BA)_{ij}</a:t>
            </a:r>
            <a:r>
              <a:rPr sz="1670" b="0">
                <a:solidFill>
                  <a:srgbClr val="000000"/>
                </a:solidFill>
                <a:latin typeface="Arial"/>
              </a:rPr>
              <a:t>. La regla fila por columna sale de exigir que </a:t>
            </a:r>
            <a:r>
              <a:rPr sz="1670" b="1">
                <a:solidFill>
                  <a:srgbClr val="000000"/>
                </a:solidFill>
                <a:latin typeface="Arial"/>
              </a:rPr>
              <a:t>componer dos sistemas sea multiplicar sus matrices</a:t>
            </a:r>
            <a:r>
              <a:rPr sz="167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PRODUCTO DE MATRICES RECTANGULARES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787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60" b="0">
                <a:solidFill>
                  <a:srgbClr val="000000"/>
                </a:solidFill>
                <a:latin typeface="Arial"/>
              </a:rPr>
              <a:t>Sea </a:t>
            </a:r>
            <a:r>
              <a:rPr sz="1860" b="0">
                <a:solidFill>
                  <a:srgbClr val="000000"/>
                </a:solidFill>
                <a:latin typeface="Consolas"/>
              </a:rPr>
              <a:t>G</a:t>
            </a:r>
            <a:r>
              <a:rPr sz="1860" b="0">
                <a:solidFill>
                  <a:srgbClr val="000000"/>
                </a:solidFill>
                <a:latin typeface="Arial"/>
              </a:rPr>
              <a:t> de orden </a:t>
            </a:r>
            <a:r>
              <a:rPr sz="1860" b="0">
                <a:solidFill>
                  <a:srgbClr val="000000"/>
                </a:solidFill>
                <a:latin typeface="Consolas"/>
              </a:rPr>
              <a:t>2x3</a:t>
            </a:r>
            <a:r>
              <a:rPr sz="1860" b="0">
                <a:solidFill>
                  <a:srgbClr val="000000"/>
                </a:solidFill>
                <a:latin typeface="Arial"/>
              </a:rPr>
              <a:t> y </a:t>
            </a:r>
            <a:r>
              <a:rPr sz="1860" b="0">
                <a:solidFill>
                  <a:srgbClr val="000000"/>
                </a:solidFill>
                <a:latin typeface="Consolas"/>
              </a:rPr>
              <a:t>H</a:t>
            </a:r>
            <a:r>
              <a:rPr sz="1860" b="0">
                <a:solidFill>
                  <a:srgbClr val="000000"/>
                </a:solidFill>
                <a:latin typeface="Arial"/>
              </a:rPr>
              <a:t> de orden </a:t>
            </a:r>
            <a:r>
              <a:rPr sz="1860" b="0">
                <a:solidFill>
                  <a:srgbClr val="000000"/>
                </a:solidFill>
                <a:latin typeface="Consolas"/>
              </a:rPr>
              <a:t>3x2</a:t>
            </a:r>
            <a:r>
              <a:rPr sz="1860" b="0">
                <a:solidFill>
                  <a:srgbClr val="000000"/>
                </a:solidFill>
                <a:latin typeface="Arial"/>
              </a:rPr>
              <a:t>. Las dimensiones interiores coinciden, luego </a:t>
            </a:r>
            <a:r>
              <a:rPr sz="1860" b="0">
                <a:solidFill>
                  <a:srgbClr val="000000"/>
                </a:solidFill>
                <a:latin typeface="Consolas"/>
              </a:rPr>
              <a:t>GH</a:t>
            </a:r>
            <a:r>
              <a:rPr sz="1860" b="0">
                <a:solidFill>
                  <a:srgbClr val="000000"/>
                </a:solidFill>
                <a:latin typeface="Arial"/>
              </a:rPr>
              <a:t> es </a:t>
            </a:r>
            <a:r>
              <a:rPr sz="1860" b="0">
                <a:solidFill>
                  <a:srgbClr val="000000"/>
                </a:solidFill>
                <a:latin typeface="Consolas"/>
              </a:rPr>
              <a:t>2x2</a:t>
            </a:r>
            <a:r>
              <a:rPr sz="186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pic>
        <p:nvPicPr>
          <p:cNvPr id="9" name="Picture 8" descr="f_9a67b3e176dab9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326" y="2348941"/>
            <a:ext cx="3308299" cy="10081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576523"/>
            <a:ext cx="10872216" cy="147378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576523"/>
            <a:ext cx="54864" cy="147378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83508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3" name="Picture 12" descr="f_54b5df7ab90cff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942" y="4023664"/>
            <a:ext cx="1687068" cy="705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308600"/>
            <a:ext cx="10872216" cy="2637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60" b="0">
                <a:solidFill>
                  <a:srgbClr val="000000"/>
                </a:solidFill>
                <a:latin typeface="Consolas"/>
              </a:rPr>
              <a:t>HG</a:t>
            </a:r>
            <a:r>
              <a:rPr sz="1760" b="0">
                <a:solidFill>
                  <a:srgbClr val="000000"/>
                </a:solidFill>
                <a:latin typeface="Arial"/>
              </a:rPr>
              <a:t> también existe, pero es </a:t>
            </a:r>
            <a:r>
              <a:rPr sz="1760" b="0">
                <a:solidFill>
                  <a:srgbClr val="000000"/>
                </a:solidFill>
                <a:latin typeface="Consolas"/>
              </a:rPr>
              <a:t>3x3</a:t>
            </a:r>
            <a:r>
              <a:rPr sz="1760" b="0">
                <a:solidFill>
                  <a:srgbClr val="000000"/>
                </a:solidFill>
                <a:latin typeface="Arial"/>
              </a:rPr>
              <a:t>: ni siquiera tienen el mismo orden.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CONSTRUYA LA MATRIZ DE CONTROLABILIDAD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el sistema en espacio de estados</a:t>
            </a:r>
          </a:p>
        </p:txBody>
      </p:sp>
      <p:pic>
        <p:nvPicPr>
          <p:cNvPr id="9" name="Picture 8" descr="f_02759fc61cd298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407" y="2788539"/>
            <a:ext cx="3390138" cy="784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1861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el producto </a:t>
            </a:r>
            <a:r>
              <a:rPr sz="1950" b="0">
                <a:solidFill>
                  <a:srgbClr val="000000"/>
                </a:solidFill>
                <a:latin typeface="Consolas"/>
              </a:rPr>
              <a:t>AB</a:t>
            </a:r>
            <a:r>
              <a:rPr sz="1950" b="0">
                <a:solidFill>
                  <a:srgbClr val="000000"/>
                </a:solidFill>
                <a:latin typeface="Arial"/>
              </a:rPr>
              <a:t> y forme la matriz </a:t>
            </a:r>
            <a:r>
              <a:rPr sz="1950" b="0">
                <a:solidFill>
                  <a:srgbClr val="000000"/>
                </a:solidFill>
                <a:latin typeface="Consolas"/>
              </a:rPr>
              <a:t>[B  AB]</a:t>
            </a:r>
            <a:r>
              <a:rPr sz="1950" b="0">
                <a:solidFill>
                  <a:srgbClr val="000000"/>
                </a:solidFill>
                <a:latin typeface="Arial"/>
              </a:rPr>
              <a:t>. Indique el orden de cada factor y del resultado.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MULTIPLICACIÓN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55574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55574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0c2bfc24c0607d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666" y="2350008"/>
            <a:ext cx="3817620" cy="784098"/>
          </a:xfrm>
          <a:prstGeom prst="rect">
            <a:avLst/>
          </a:prstGeom>
        </p:spPr>
      </p:pic>
      <p:pic>
        <p:nvPicPr>
          <p:cNvPr id="12" name="Picture 11" descr="f_c4be6f6c93c72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887" y="3298698"/>
            <a:ext cx="2567178" cy="784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Consolas"/>
              </a:rPr>
              <a:t>2x2</a:t>
            </a:r>
            <a:r>
              <a:rPr sz="1850" b="0">
                <a:solidFill>
                  <a:srgbClr val="000000"/>
                </a:solidFill>
                <a:latin typeface="Arial"/>
              </a:rPr>
              <a:t> por </a:t>
            </a:r>
            <a:r>
              <a:rPr sz="1850" b="0">
                <a:solidFill>
                  <a:srgbClr val="000000"/>
                </a:solidFill>
                <a:latin typeface="Consolas"/>
              </a:rPr>
              <a:t>2x1</a:t>
            </a:r>
            <a:r>
              <a:rPr sz="1850" b="0">
                <a:solidFill>
                  <a:srgbClr val="000000"/>
                </a:solidFill>
                <a:latin typeface="Arial"/>
              </a:rPr>
              <a:t> da </a:t>
            </a:r>
            <a:r>
              <a:rPr sz="1850" b="0">
                <a:solidFill>
                  <a:srgbClr val="000000"/>
                </a:solidFill>
                <a:latin typeface="Consolas"/>
              </a:rPr>
              <a:t>2x1</a:t>
            </a:r>
            <a:r>
              <a:rPr sz="1850" b="0">
                <a:solidFill>
                  <a:srgbClr val="000000"/>
                </a:solidFill>
                <a:latin typeface="Arial"/>
              </a:rPr>
              <a:t>, como debe ser. Esa matriz </a:t>
            </a:r>
            <a:r>
              <a:rPr sz="1850" b="0">
                <a:solidFill>
                  <a:srgbClr val="000000"/>
                </a:solidFill>
                <a:latin typeface="Consolas"/>
              </a:rPr>
              <a:t>[B  AB]</a:t>
            </a:r>
            <a:r>
              <a:rPr sz="1850" b="0">
                <a:solidFill>
                  <a:srgbClr val="000000"/>
                </a:solidFill>
                <a:latin typeface="Arial"/>
              </a:rPr>
              <a:t> es la </a:t>
            </a:r>
            <a:r>
              <a:rPr sz="1850" b="1">
                <a:solidFill>
                  <a:srgbClr val="000000"/>
                </a:solidFill>
                <a:latin typeface="Arial"/>
              </a:rPr>
              <a:t>matriz de controlabilidad</a:t>
            </a:r>
            <a:r>
              <a:rPr sz="1850" b="0">
                <a:solidFill>
                  <a:srgbClr val="000000"/>
                </a:solidFill>
                <a:latin typeface="Arial"/>
              </a:rPr>
              <a:t> del sistema; su rango decidirá, en la semana 10, si el sistema se puede controlar.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QUÉ SE CONSERVA Y QUÉ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EXPLICACIÓN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4" cy="2907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84529"/>
                <a:gridCol w="5542698"/>
                <a:gridCol w="2344987"/>
              </a:tblGrid>
              <a:tr h="53035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REGLA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ENUNCIADO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¿VALE?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Asociativa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(AB)C = A(BC)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Distributiva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A(B + C) = AB + AC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Conmutativa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AB = 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Transpuesta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(AB)ᵀ = Bᵀ Aᵀ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sí, invierte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Producto nulo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AB = 0 ⟹ A = 0 o B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Las dos reglas que </a:t>
            </a:r>
            <a:r>
              <a:rPr sz="1850" b="1">
                <a:solidFill>
                  <a:srgbClr val="000000"/>
                </a:solidFill>
                <a:latin typeface="Arial"/>
              </a:rPr>
              <a:t>no</a:t>
            </a:r>
            <a:r>
              <a:rPr sz="1850" b="0">
                <a:solidFill>
                  <a:srgbClr val="000000"/>
                </a:solidFill>
                <a:latin typeface="Arial"/>
              </a:rPr>
              <a:t> valen son justo las que uno da por sentadas viniendo del álgebra de números.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POR QUÉ LA TRANSPUESTA INVIERTE EL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787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60" b="0">
                <a:solidFill>
                  <a:srgbClr val="000000"/>
                </a:solidFill>
                <a:latin typeface="Arial"/>
              </a:rPr>
              <a:t>Basta seguir los índices en la definición del producto: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94077"/>
            <a:ext cx="10872216" cy="2465451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294077"/>
            <a:ext cx="54864" cy="2465451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01062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8a3175c6175956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02" y="2741218"/>
            <a:ext cx="3238347" cy="534924"/>
          </a:xfrm>
          <a:prstGeom prst="rect">
            <a:avLst/>
          </a:prstGeom>
        </p:spPr>
      </p:pic>
      <p:pic>
        <p:nvPicPr>
          <p:cNvPr id="13" name="Picture 12" descr="f_19b46218816edb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325" y="3424275"/>
            <a:ext cx="1946300" cy="534924"/>
          </a:xfrm>
          <a:prstGeom prst="rect">
            <a:avLst/>
          </a:prstGeom>
        </p:spPr>
      </p:pic>
      <p:pic>
        <p:nvPicPr>
          <p:cNvPr id="14" name="Picture 13" descr="f_2bcb9da702b0a5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567" y="4107332"/>
            <a:ext cx="1283817" cy="3312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44846"/>
            <a:ext cx="10872216" cy="5275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60" b="0">
                <a:solidFill>
                  <a:srgbClr val="000000"/>
                </a:solidFill>
                <a:latin typeface="Arial"/>
              </a:rPr>
              <a:t>Transponer intercambia el papel de filas y columnas, y el producto las cruza: por eso hay que invertir el orden. Esta regla es la raíz algebraica de la </a:t>
            </a:r>
            <a:r>
              <a:rPr sz="1760" b="1">
                <a:solidFill>
                  <a:srgbClr val="000000"/>
                </a:solidFill>
                <a:latin typeface="Arial"/>
              </a:rPr>
              <a:t>dualidad</a:t>
            </a:r>
            <a:r>
              <a:rPr sz="1760" b="0">
                <a:solidFill>
                  <a:srgbClr val="000000"/>
                </a:solidFill>
                <a:latin typeface="Arial"/>
              </a:rPr>
              <a:t> entre controlabilidad y observabilidad.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DOS VERIFICACIONES NUMÉRICAS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652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70" b="0">
                <a:solidFill>
                  <a:srgbClr val="000000"/>
                </a:solidFill>
                <a:latin typeface="Arial"/>
              </a:rPr>
              <a:t>Con </a:t>
            </a:r>
            <a:r>
              <a:rPr sz="1770" b="0">
                <a:solidFill>
                  <a:srgbClr val="000000"/>
                </a:solidFill>
                <a:latin typeface="Consolas"/>
              </a:rPr>
              <a:t>A</a:t>
            </a:r>
            <a:r>
              <a:rPr sz="1770" b="0">
                <a:solidFill>
                  <a:srgbClr val="000000"/>
                </a:solidFill>
                <a:latin typeface="Arial"/>
              </a:rPr>
              <a:t> y </a:t>
            </a:r>
            <a:r>
              <a:rPr sz="1770" b="0">
                <a:solidFill>
                  <a:srgbClr val="000000"/>
                </a:solidFill>
                <a:latin typeface="Consolas"/>
              </a:rPr>
              <a:t>B</a:t>
            </a:r>
            <a:r>
              <a:rPr sz="1770" b="0">
                <a:solidFill>
                  <a:srgbClr val="000000"/>
                </a:solidFill>
                <a:latin typeface="Arial"/>
              </a:rPr>
              <a:t> del subtema 1.2, el producto transpuesto: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65959"/>
            <a:ext cx="10872216" cy="1338681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265959"/>
            <a:ext cx="54864" cy="1338681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61057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1fa0b6d8880602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693898"/>
            <a:ext cx="2825496" cy="6254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3750944"/>
            <a:ext cx="10872216" cy="2652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70" b="0">
                <a:solidFill>
                  <a:srgbClr val="000000"/>
                </a:solidFill>
                <a:latin typeface="Arial"/>
              </a:rPr>
              <a:t>Y un producto nulo con ambos factores no nulos: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133240"/>
            <a:ext cx="10872216" cy="134051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133240"/>
            <a:ext cx="54864" cy="134051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228338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7" name="Picture 16" descr="f_57bf9cc2aac003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4561179"/>
            <a:ext cx="2417673" cy="62727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APLIQUE LAS REGLAS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las matrices del subtema 2.1</a:t>
            </a:r>
          </a:p>
        </p:txBody>
      </p:sp>
      <p:pic>
        <p:nvPicPr>
          <p:cNvPr id="9" name="Picture 8" descr="f_9a67b3e176dab9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532" y="2713072"/>
            <a:ext cx="3675887" cy="1120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406969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obtenga </a:t>
            </a:r>
            <a:r>
              <a:rPr sz="1950" b="0">
                <a:solidFill>
                  <a:srgbClr val="000000"/>
                </a:solidFill>
                <a:latin typeface="Consolas"/>
              </a:rPr>
              <a:t>(GH)ᵀ</a:t>
            </a:r>
            <a:r>
              <a:rPr sz="1950" b="0">
                <a:solidFill>
                  <a:srgbClr val="000000"/>
                </a:solidFill>
                <a:latin typeface="Arial"/>
              </a:rPr>
              <a:t> de dos maneras: transponiendo el producto y usando </a:t>
            </a:r>
            <a:r>
              <a:rPr sz="1950" b="0">
                <a:solidFill>
                  <a:srgbClr val="000000"/>
                </a:solidFill>
                <a:latin typeface="Consolas"/>
              </a:rPr>
              <a:t>Hᵀ Gᵀ</a:t>
            </a:r>
            <a:r>
              <a:rPr sz="1950" b="0">
                <a:solidFill>
                  <a:srgbClr val="000000"/>
                </a:solidFill>
                <a:latin typeface="Arial"/>
              </a:rPr>
              <a:t>. Indique el orden de cada matriz intermedia.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REGLAS DEL PRODUCTO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55117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55117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6da173b62b57ce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335" y="2350008"/>
            <a:ext cx="2256282" cy="781812"/>
          </a:xfrm>
          <a:prstGeom prst="rect">
            <a:avLst/>
          </a:prstGeom>
        </p:spPr>
      </p:pic>
      <p:pic>
        <p:nvPicPr>
          <p:cNvPr id="12" name="Picture 11" descr="f_d9206019f1d676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763" y="3296411"/>
            <a:ext cx="2265426" cy="7818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Consolas"/>
              </a:rPr>
              <a:t>Hᵀ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2x3</a:t>
            </a:r>
            <a:r>
              <a:rPr sz="1850" b="0">
                <a:solidFill>
                  <a:srgbClr val="000000"/>
                </a:solidFill>
                <a:latin typeface="Arial"/>
              </a:rPr>
              <a:t> y </a:t>
            </a:r>
            <a:r>
              <a:rPr sz="1850" b="0">
                <a:solidFill>
                  <a:srgbClr val="000000"/>
                </a:solidFill>
                <a:latin typeface="Consolas"/>
              </a:rPr>
              <a:t>Gᵀ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3x2</a:t>
            </a:r>
            <a:r>
              <a:rPr sz="1850" b="0">
                <a:solidFill>
                  <a:srgbClr val="000000"/>
                </a:solidFill>
                <a:latin typeface="Arial"/>
              </a:rPr>
              <a:t>, luego el producto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2x2</a:t>
            </a:r>
            <a:r>
              <a:rPr sz="1850" b="0">
                <a:solidFill>
                  <a:srgbClr val="000000"/>
                </a:solidFill>
                <a:latin typeface="Arial"/>
              </a:rPr>
              <a:t>. En el orden equivocado, </a:t>
            </a:r>
            <a:r>
              <a:rPr sz="1850" b="0">
                <a:solidFill>
                  <a:srgbClr val="000000"/>
                </a:solidFill>
                <a:latin typeface="Consolas"/>
              </a:rPr>
              <a:t>Gᵀ Hᵀ</a:t>
            </a:r>
            <a:r>
              <a:rPr sz="1850" b="0">
                <a:solidFill>
                  <a:srgbClr val="000000"/>
                </a:solidFill>
                <a:latin typeface="Arial"/>
              </a:rPr>
              <a:t> sería </a:t>
            </a:r>
            <a:r>
              <a:rPr sz="1850" b="0">
                <a:solidFill>
                  <a:srgbClr val="000000"/>
                </a:solidFill>
                <a:latin typeface="Consolas"/>
              </a:rPr>
              <a:t>3x2</a:t>
            </a:r>
            <a:r>
              <a:rPr sz="1850" b="0">
                <a:solidFill>
                  <a:srgbClr val="000000"/>
                </a:solidFill>
                <a:latin typeface="Arial"/>
              </a:rPr>
              <a:t> por </a:t>
            </a:r>
            <a:r>
              <a:rPr sz="1850" b="0">
                <a:solidFill>
                  <a:srgbClr val="000000"/>
                </a:solidFill>
                <a:latin typeface="Consolas"/>
              </a:rPr>
              <a:t>2x3</a:t>
            </a:r>
            <a:r>
              <a:rPr sz="1850" b="0">
                <a:solidFill>
                  <a:srgbClr val="000000"/>
                </a:solidFill>
                <a:latin typeface="Arial"/>
              </a:rPr>
              <a:t> y daría una matriz </a:t>
            </a:r>
            <a:r>
              <a:rPr sz="1850" b="0">
                <a:solidFill>
                  <a:srgbClr val="000000"/>
                </a:solidFill>
                <a:latin typeface="Consolas"/>
              </a:rPr>
              <a:t>3x3</a:t>
            </a:r>
            <a:r>
              <a:rPr sz="1850" b="0">
                <a:solidFill>
                  <a:srgbClr val="000000"/>
                </a:solidFill>
                <a:latin typeface="Arial"/>
              </a:rPr>
              <a:t>: el error se detecta </a:t>
            </a:r>
            <a:r>
              <a:rPr sz="1850" b="1">
                <a:solidFill>
                  <a:srgbClr val="000000"/>
                </a:solidFill>
                <a:latin typeface="Arial"/>
              </a:rPr>
              <a:t>antes de hacer una sola cuenta</a:t>
            </a:r>
            <a:r>
              <a:rPr sz="1850" b="0">
                <a:solidFill>
                  <a:srgbClr val="000000"/>
                </a:solidFill>
                <a:latin typeface="Arial"/>
              </a:rPr>
              <a:t>, mirando los órdenes.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UN ESCALAR MULTIPLICA TODOS LOS ELEMENTOS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Multiplicar por un número </a:t>
            </a:r>
            <a:r>
              <a:rPr sz="1950" b="0">
                <a:solidFill>
                  <a:srgbClr val="000000"/>
                </a:solidFill>
                <a:latin typeface="Consolas"/>
              </a:rPr>
              <a:t>k</a:t>
            </a:r>
            <a:r>
              <a:rPr sz="1950" b="0">
                <a:solidFill>
                  <a:srgbClr val="000000"/>
                </a:solidFill>
                <a:latin typeface="Arial"/>
              </a:rPr>
              <a:t> afecta a cada elemento por igual: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195"/>
            <a:ext cx="10872216" cy="87325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22195"/>
            <a:ext cx="54864" cy="87325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09304aac49b6c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233" y="2596515"/>
            <a:ext cx="1602486" cy="3246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3378327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escalar se puede mover libremente dentro de un producto, que es lo que lo distingue del producto entre matrices: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109084"/>
            <a:ext cx="10872216" cy="84353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109084"/>
            <a:ext cx="54864" cy="84353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_7168794525862a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83404"/>
            <a:ext cx="3044952" cy="2948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escalar </a:t>
            </a:r>
            <a:r>
              <a:rPr sz="1850" b="1">
                <a:solidFill>
                  <a:srgbClr val="000000"/>
                </a:solidFill>
                <a:latin typeface="Arial"/>
              </a:rPr>
              <a:t>sí conmuta</a:t>
            </a:r>
            <a:r>
              <a:rPr sz="1850" b="0">
                <a:solidFill>
                  <a:srgbClr val="000000"/>
                </a:solidFill>
                <a:latin typeface="Arial"/>
              </a:rPr>
              <a:t> con todo. Escalar </a:t>
            </a:r>
            <a:r>
              <a:rPr sz="1850" b="0">
                <a:solidFill>
                  <a:srgbClr val="000000"/>
                </a:solidFill>
                <a:latin typeface="Consolas"/>
              </a:rPr>
              <a:t>B</a:t>
            </a:r>
            <a:r>
              <a:rPr sz="1850" b="0">
                <a:solidFill>
                  <a:srgbClr val="000000"/>
                </a:solidFill>
                <a:latin typeface="Arial"/>
              </a:rPr>
              <a:t> por </a:t>
            </a:r>
            <a:r>
              <a:rPr sz="1850" b="0">
                <a:solidFill>
                  <a:srgbClr val="000000"/>
                </a:solidFill>
                <a:latin typeface="Consolas"/>
              </a:rPr>
              <a:t>k</a:t>
            </a:r>
            <a:r>
              <a:rPr sz="1850" b="0">
                <a:solidFill>
                  <a:srgbClr val="000000"/>
                </a:solidFill>
                <a:latin typeface="Arial"/>
              </a:rPr>
              <a:t> equivale a escalar la ganancia del actuador.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EL ESCALAR SALE ELEVADO AL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Al calcular el determinante hay que tener cuidado: cada una de las </a:t>
            </a:r>
            <a:r>
              <a:rPr sz="1950" b="0">
                <a:solidFill>
                  <a:srgbClr val="000000"/>
                </a:solidFill>
                <a:latin typeface="Consolas"/>
              </a:rPr>
              <a:t>n</a:t>
            </a:r>
            <a:r>
              <a:rPr sz="1950" b="0">
                <a:solidFill>
                  <a:srgbClr val="000000"/>
                </a:solidFill>
                <a:latin typeface="Arial"/>
              </a:rPr>
              <a:t> filas queda multiplicada por </a:t>
            </a:r>
            <a:r>
              <a:rPr sz="1950" b="0">
                <a:solidFill>
                  <a:srgbClr val="000000"/>
                </a:solidFill>
                <a:latin typeface="Consolas"/>
              </a:rPr>
              <a:t>k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14422"/>
            <a:ext cx="10872216" cy="158191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14422"/>
            <a:ext cx="54864" cy="158191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733294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00b903286f4b18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177" y="3080766"/>
            <a:ext cx="2498598" cy="297180"/>
          </a:xfrm>
          <a:prstGeom prst="rect">
            <a:avLst/>
          </a:prstGeom>
        </p:spPr>
      </p:pic>
      <p:pic>
        <p:nvPicPr>
          <p:cNvPr id="13" name="Picture 12" descr="f_2714bff254197b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406" y="3542538"/>
            <a:ext cx="3406140" cy="2971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379214"/>
            <a:ext cx="10872216" cy="909827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379214"/>
            <a:ext cx="54864" cy="909827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488942"/>
            <a:ext cx="104150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ERROR FRECUENTE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763262"/>
            <a:ext cx="10415016" cy="470915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onsolas"/>
              </a:rPr>
              <a:t>det(kA)</a:t>
            </a:r>
            <a:r>
              <a:rPr sz="1800" b="0">
                <a:solidFill>
                  <a:srgbClr val="000000"/>
                </a:solidFill>
                <a:latin typeface="Arial"/>
              </a:rPr>
              <a:t> </a:t>
            </a:r>
            <a:r>
              <a:rPr sz="1800" b="1">
                <a:solidFill>
                  <a:srgbClr val="000000"/>
                </a:solidFill>
                <a:latin typeface="Arial"/>
              </a:rPr>
              <a:t>no</a:t>
            </a:r>
            <a:r>
              <a:rPr sz="1800" b="0">
                <a:solidFill>
                  <a:srgbClr val="000000"/>
                </a:solidFill>
                <a:latin typeface="Arial"/>
              </a:rPr>
              <a:t> es </a:t>
            </a:r>
            <a:r>
              <a:rPr sz="1800" b="0">
                <a:solidFill>
                  <a:srgbClr val="000000"/>
                </a:solidFill>
                <a:latin typeface="Consolas"/>
              </a:rPr>
              <a:t>k·det(A)</a:t>
            </a:r>
            <a:r>
              <a:rPr sz="1800" b="0">
                <a:solidFill>
                  <a:srgbClr val="000000"/>
                </a:solidFill>
                <a:latin typeface="Arial"/>
              </a:rPr>
              <a:t>. Escalar una matriz </a:t>
            </a:r>
            <a:r>
              <a:rPr sz="1800" b="0">
                <a:solidFill>
                  <a:srgbClr val="000000"/>
                </a:solidFill>
                <a:latin typeface="Consolas"/>
              </a:rPr>
              <a:t>3x3</a:t>
            </a:r>
            <a:r>
              <a:rPr sz="1800" b="0">
                <a:solidFill>
                  <a:srgbClr val="000000"/>
                </a:solidFill>
                <a:latin typeface="Arial"/>
              </a:rPr>
              <a:t> por 2 multiplica su determinante por 8, no por 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ESCALADO DE UNA MATRIZ 2×2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Con </a:t>
            </a:r>
            <a:r>
              <a:rPr sz="1950" b="0">
                <a:solidFill>
                  <a:srgbClr val="000000"/>
                </a:solidFill>
                <a:latin typeface="Consolas"/>
              </a:rPr>
              <a:t>A</a:t>
            </a:r>
            <a:r>
              <a:rPr sz="1950" b="0">
                <a:solidFill>
                  <a:srgbClr val="000000"/>
                </a:solidFill>
                <a:latin typeface="Arial"/>
              </a:rPr>
              <a:t> del subtema 1.2 y </a:t>
            </a:r>
            <a:r>
              <a:rPr sz="1950" b="0">
                <a:solidFill>
                  <a:srgbClr val="000000"/>
                </a:solidFill>
                <a:latin typeface="Consolas"/>
              </a:rPr>
              <a:t>k = 3</a:t>
            </a:r>
            <a:r>
              <a:rPr sz="195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82900"/>
            <a:ext cx="10872216" cy="212140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82900"/>
            <a:ext cx="54864" cy="212140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801772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953b34a097babd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98" y="3149244"/>
            <a:ext cx="1705356" cy="790956"/>
          </a:xfrm>
          <a:prstGeom prst="rect">
            <a:avLst/>
          </a:prstGeom>
        </p:spPr>
      </p:pic>
      <p:pic>
        <p:nvPicPr>
          <p:cNvPr id="13" name="Picture 12" descr="f_300d992ed0bbc4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010" y="4104792"/>
            <a:ext cx="5170932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determinante se multiplicó por 9, no por 3: el factor entra una vez por cada fila.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ESCALE Y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 matriz</a:t>
            </a:r>
          </a:p>
        </p:txBody>
      </p:sp>
      <p:pic>
        <p:nvPicPr>
          <p:cNvPr id="9" name="Picture 8" descr="f_151af4f29a17bf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99" y="2788539"/>
            <a:ext cx="1689354" cy="7795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17289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</a:t>
            </a:r>
            <a:r>
              <a:rPr sz="1950" b="0">
                <a:solidFill>
                  <a:srgbClr val="000000"/>
                </a:solidFill>
                <a:latin typeface="Consolas"/>
              </a:rPr>
              <a:t>2M</a:t>
            </a:r>
            <a:r>
              <a:rPr sz="1950" b="0">
                <a:solidFill>
                  <a:srgbClr val="000000"/>
                </a:solidFill>
                <a:latin typeface="Arial"/>
              </a:rPr>
              <a:t>, su determinante, y verifique la relación con </a:t>
            </a:r>
            <a:r>
              <a:rPr sz="1950" b="0">
                <a:solidFill>
                  <a:srgbClr val="000000"/>
                </a:solidFill>
                <a:latin typeface="Consolas"/>
              </a:rPr>
              <a:t>det(M)</a:t>
            </a:r>
            <a:r>
              <a:rPr sz="1950" b="0">
                <a:solidFill>
                  <a:srgbClr val="000000"/>
                </a:solidFill>
                <a:latin typeface="Arial"/>
              </a:rPr>
              <a:t>. Diga qué le ocurre al determinante si </a:t>
            </a:r>
            <a:r>
              <a:rPr sz="1950" b="0">
                <a:solidFill>
                  <a:srgbClr val="000000"/>
                </a:solidFill>
                <a:latin typeface="Consolas"/>
              </a:rPr>
              <a:t>M</a:t>
            </a:r>
            <a:r>
              <a:rPr sz="1950" b="0">
                <a:solidFill>
                  <a:srgbClr val="000000"/>
                </a:solidFill>
                <a:latin typeface="Arial"/>
              </a:rPr>
              <a:t> fuera </a:t>
            </a:r>
            <a:r>
              <a:rPr sz="1950" b="0">
                <a:solidFill>
                  <a:srgbClr val="000000"/>
                </a:solidFill>
                <a:latin typeface="Consolas"/>
              </a:rPr>
              <a:t>3x3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k = 2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ESCALAR 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107691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107691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bf1004340c43f6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350008"/>
            <a:ext cx="1874519" cy="777240"/>
          </a:xfrm>
          <a:prstGeom prst="rect">
            <a:avLst/>
          </a:prstGeom>
        </p:spPr>
      </p:pic>
      <p:pic>
        <p:nvPicPr>
          <p:cNvPr id="12" name="Picture 11" descr="f_3386c70ecb3a25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28" y="3291839"/>
            <a:ext cx="4425696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Si </a:t>
            </a:r>
            <a:r>
              <a:rPr sz="1850" b="0">
                <a:solidFill>
                  <a:srgbClr val="000000"/>
                </a:solidFill>
                <a:latin typeface="Consolas"/>
              </a:rPr>
              <a:t>M</a:t>
            </a:r>
            <a:r>
              <a:rPr sz="1850" b="0">
                <a:solidFill>
                  <a:srgbClr val="000000"/>
                </a:solidFill>
                <a:latin typeface="Arial"/>
              </a:rPr>
              <a:t> fuera </a:t>
            </a:r>
            <a:r>
              <a:rPr sz="1850" b="0">
                <a:solidFill>
                  <a:srgbClr val="000000"/>
                </a:solidFill>
                <a:latin typeface="Consolas"/>
              </a:rPr>
              <a:t>3x3</a:t>
            </a:r>
            <a:r>
              <a:rPr sz="1850" b="0">
                <a:solidFill>
                  <a:srgbClr val="000000"/>
                </a:solidFill>
                <a:latin typeface="Arial"/>
              </a:rPr>
              <a:t>, el factor sería </a:t>
            </a:r>
            <a:r>
              <a:rPr sz="1850" b="0">
                <a:solidFill>
                  <a:srgbClr val="000000"/>
                </a:solidFill>
                <a:latin typeface="Consolas"/>
              </a:rPr>
              <a:t>2³ = 8</a:t>
            </a:r>
            <a:r>
              <a:rPr sz="1850" b="0">
                <a:solidFill>
                  <a:srgbClr val="000000"/>
                </a:solidFill>
                <a:latin typeface="Arial"/>
              </a:rPr>
              <a:t>: el determinante quedaría multiplicado por ocho. Por eso escalar un modelo </a:t>
            </a:r>
            <a:r>
              <a:rPr sz="1850" b="1">
                <a:solidFill>
                  <a:srgbClr val="000000"/>
                </a:solidFill>
                <a:latin typeface="Arial"/>
              </a:rPr>
              <a:t>no es inocuo</a:t>
            </a:r>
            <a:r>
              <a:rPr sz="1850" b="0">
                <a:solidFill>
                  <a:srgbClr val="000000"/>
                </a:solidFill>
                <a:latin typeface="Arial"/>
              </a:rPr>
              <a:t> para los criterios que dependen del determinante.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INVERSA Y RANGO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TEMA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10127"/>
            <a:ext cx="10872216" cy="9509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3.1  Inversa de una matriz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3.2  Rango de una matriz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MATRIZ QUE DESHACE A LA MATRIZ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 inversa de una matriz </a:t>
            </a:r>
            <a:r>
              <a:rPr sz="1950" b="1">
                <a:solidFill>
                  <a:srgbClr val="000000"/>
                </a:solidFill>
                <a:latin typeface="Arial"/>
              </a:rPr>
              <a:t>cuadrada</a:t>
            </a:r>
            <a:r>
              <a:rPr sz="1950" b="0">
                <a:solidFill>
                  <a:srgbClr val="000000"/>
                </a:solidFill>
                <a:latin typeface="Arial"/>
              </a:rPr>
              <a:t> </a:t>
            </a:r>
            <a:r>
              <a:rPr sz="1950" b="0">
                <a:solidFill>
                  <a:srgbClr val="000000"/>
                </a:solidFill>
                <a:latin typeface="Consolas"/>
              </a:rPr>
              <a:t>A</a:t>
            </a:r>
            <a:r>
              <a:rPr sz="1950" b="0">
                <a:solidFill>
                  <a:srgbClr val="000000"/>
                </a:solidFill>
                <a:latin typeface="Arial"/>
              </a:rPr>
              <a:t> es la que devuelve la identidad, multiplicando por cualquiera de los dos lados: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98696"/>
            <a:ext cx="10872216" cy="83439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98696"/>
            <a:ext cx="54864" cy="83439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dfb49b720627bd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973016"/>
            <a:ext cx="2331720" cy="2857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" y="3800240"/>
            <a:ext cx="10872216" cy="117957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00240"/>
            <a:ext cx="54864" cy="117957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909968"/>
            <a:ext cx="104150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CONDICIÓN DE EXISTENCIA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184288"/>
            <a:ext cx="10415016" cy="7406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onsolas"/>
              </a:rPr>
              <a:t>A⁻¹</a:t>
            </a:r>
            <a:r>
              <a:rPr sz="1800" b="0">
                <a:solidFill>
                  <a:srgbClr val="000000"/>
                </a:solidFill>
                <a:latin typeface="Arial"/>
              </a:rPr>
              <a:t> existe si y solo si </a:t>
            </a:r>
            <a:r>
              <a:rPr sz="1800" b="0">
                <a:solidFill>
                  <a:srgbClr val="000000"/>
                </a:solidFill>
                <a:latin typeface="Consolas"/>
              </a:rPr>
              <a:t>det(A) ≠ 0</a:t>
            </a:r>
            <a:r>
              <a:rPr sz="1800" b="0">
                <a:solidFill>
                  <a:srgbClr val="000000"/>
                </a:solidFill>
                <a:latin typeface="Arial"/>
              </a:rPr>
              <a:t>. Una matriz con determinante nulo se llama </a:t>
            </a:r>
            <a:r>
              <a:rPr sz="1800" b="1">
                <a:solidFill>
                  <a:srgbClr val="000000"/>
                </a:solidFill>
                <a:latin typeface="Arial"/>
              </a:rPr>
              <a:t>singular</a:t>
            </a:r>
            <a:r>
              <a:rPr sz="1800" b="0">
                <a:solidFill>
                  <a:srgbClr val="000000"/>
                </a:solidFill>
                <a:latin typeface="Arial"/>
              </a:rPr>
              <a:t> y no tiene inversa.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inversa es de los pocos productos que </a:t>
            </a:r>
            <a:r>
              <a:rPr sz="1850" b="1">
                <a:solidFill>
                  <a:srgbClr val="000000"/>
                </a:solidFill>
                <a:latin typeface="Arial"/>
              </a:rPr>
              <a:t>sí conmutan</a:t>
            </a:r>
            <a:r>
              <a:rPr sz="1850" b="0">
                <a:solidFill>
                  <a:srgbClr val="000000"/>
                </a:solidFill>
                <a:latin typeface="Arial"/>
              </a:rPr>
              <a:t>, y solo con su propia matriz.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FÓRMULA DEL CASO 2×2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5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60" b="0">
                <a:solidFill>
                  <a:srgbClr val="000000"/>
                </a:solidFill>
                <a:latin typeface="Arial"/>
              </a:rPr>
              <a:t>Para una matriz de orden dos se intercambian los elementos de la diagonal principal, se cambia el signo de la otra y se divide por el determinante: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72816"/>
            <a:ext cx="10872216" cy="2259711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72816"/>
            <a:ext cx="54864" cy="2259711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79801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12643102acb7e7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648" y="3019958"/>
            <a:ext cx="3643655" cy="709803"/>
          </a:xfrm>
          <a:prstGeom prst="rect">
            <a:avLst/>
          </a:prstGeom>
        </p:spPr>
      </p:pic>
      <p:pic>
        <p:nvPicPr>
          <p:cNvPr id="13" name="Picture 12" descr="f_3d1720488119f9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280" y="3877894"/>
            <a:ext cx="2666390" cy="6336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044846"/>
            <a:ext cx="10872216" cy="5275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60" b="0">
                <a:solidFill>
                  <a:srgbClr val="000000"/>
                </a:solidFill>
                <a:latin typeface="Arial"/>
              </a:rPr>
              <a:t>Si </a:t>
            </a:r>
            <a:r>
              <a:rPr sz="1760" b="0">
                <a:solidFill>
                  <a:srgbClr val="000000"/>
                </a:solidFill>
                <a:latin typeface="Consolas"/>
              </a:rPr>
              <a:t>ad − bc = 0</a:t>
            </a:r>
            <a:r>
              <a:rPr sz="1760" b="0">
                <a:solidFill>
                  <a:srgbClr val="000000"/>
                </a:solidFill>
                <a:latin typeface="Arial"/>
              </a:rPr>
              <a:t> la fórmula pide dividir por cero: ahí es donde se ve, algebraicamente, que la matriz singular no tiene inversa.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 RESOLVENTE DE UN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1701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25" b="0">
                <a:solidFill>
                  <a:srgbClr val="000000"/>
                </a:solidFill>
                <a:latin typeface="Arial"/>
              </a:rPr>
              <a:t>La inversa más usada del curso es </a:t>
            </a:r>
            <a:r>
              <a:rPr sz="1725" b="0">
                <a:solidFill>
                  <a:srgbClr val="000000"/>
                </a:solidFill>
                <a:latin typeface="Consolas"/>
              </a:rPr>
              <a:t>(sI − A)⁻¹</a:t>
            </a:r>
            <a:r>
              <a:rPr sz="1725" b="0">
                <a:solidFill>
                  <a:srgbClr val="000000"/>
                </a:solidFill>
                <a:latin typeface="Arial"/>
              </a:rPr>
              <a:t>, que aparece en </a:t>
            </a:r>
            <a:r>
              <a:rPr sz="1725" b="0">
                <a:solidFill>
                  <a:srgbClr val="000000"/>
                </a:solidFill>
                <a:latin typeface="Consolas"/>
              </a:rPr>
              <a:t>G(s) = C(sI − A)⁻¹B + D</a:t>
            </a:r>
            <a:r>
              <a:rPr sz="1725" b="0">
                <a:solidFill>
                  <a:srgbClr val="000000"/>
                </a:solidFill>
                <a:latin typeface="Arial"/>
              </a:rPr>
              <a:t>. Para la planta del subtema 1.2: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10409"/>
            <a:ext cx="10872216" cy="242869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10409"/>
            <a:ext cx="54864" cy="242869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599563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298b091c13a8f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11" y="2928747"/>
            <a:ext cx="1904329" cy="615162"/>
          </a:xfrm>
          <a:prstGeom prst="rect">
            <a:avLst/>
          </a:prstGeom>
        </p:spPr>
      </p:pic>
      <p:pic>
        <p:nvPicPr>
          <p:cNvPr id="13" name="Picture 12" descr="f_c7e9ae174c469c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500" y="3667353"/>
            <a:ext cx="4093951" cy="267462"/>
          </a:xfrm>
          <a:prstGeom prst="rect">
            <a:avLst/>
          </a:prstGeom>
        </p:spPr>
      </p:pic>
      <p:pic>
        <p:nvPicPr>
          <p:cNvPr id="14" name="Picture 13" descr="f_49d4cb5c33430f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476" y="4058259"/>
            <a:ext cx="3287999" cy="6133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104511"/>
            <a:ext cx="10872216" cy="487045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25" b="0">
                <a:solidFill>
                  <a:srgbClr val="000000"/>
                </a:solidFill>
                <a:latin typeface="Arial"/>
              </a:rPr>
              <a:t>El determinante de </a:t>
            </a:r>
            <a:r>
              <a:rPr sz="1625" b="0">
                <a:solidFill>
                  <a:srgbClr val="000000"/>
                </a:solidFill>
                <a:latin typeface="Consolas"/>
              </a:rPr>
              <a:t>sI − A</a:t>
            </a:r>
            <a:r>
              <a:rPr sz="1625" b="0">
                <a:solidFill>
                  <a:srgbClr val="000000"/>
                </a:solidFill>
                <a:latin typeface="Arial"/>
              </a:rPr>
              <a:t> es el </a:t>
            </a:r>
            <a:r>
              <a:rPr sz="1625" b="1">
                <a:solidFill>
                  <a:srgbClr val="000000"/>
                </a:solidFill>
                <a:latin typeface="Arial"/>
              </a:rPr>
              <a:t>polinomio característico</a:t>
            </a:r>
            <a:r>
              <a:rPr sz="1625" b="0">
                <a:solidFill>
                  <a:srgbClr val="000000"/>
                </a:solidFill>
                <a:latin typeface="Arial"/>
              </a:rPr>
              <a:t>: los polos del sistema son exactamente donde la inversa deja de existir.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INVIERTA LA MATRIZ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 matriz</a:t>
            </a:r>
          </a:p>
        </p:txBody>
      </p:sp>
      <p:pic>
        <p:nvPicPr>
          <p:cNvPr id="9" name="Picture 8" descr="f_b11ab59a5188bf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814" y="2788539"/>
            <a:ext cx="1449324" cy="786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4147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</a:t>
            </a:r>
            <a:r>
              <a:rPr sz="1950" b="0">
                <a:solidFill>
                  <a:srgbClr val="000000"/>
                </a:solidFill>
                <a:latin typeface="Consolas"/>
              </a:rPr>
              <a:t>det(W)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W⁻¹</a:t>
            </a:r>
            <a:r>
              <a:rPr sz="1950" b="0">
                <a:solidFill>
                  <a:srgbClr val="000000"/>
                </a:solidFill>
                <a:latin typeface="Arial"/>
              </a:rPr>
              <a:t>, y compruebe el resultado verificando que </a:t>
            </a:r>
            <a:r>
              <a:rPr sz="1950" b="0">
                <a:solidFill>
                  <a:srgbClr val="000000"/>
                </a:solidFill>
                <a:latin typeface="Consolas"/>
              </a:rPr>
              <a:t>W·W⁻¹ = I</a:t>
            </a:r>
            <a:r>
              <a:rPr sz="1950" b="0">
                <a:solidFill>
                  <a:srgbClr val="000000"/>
                </a:solidFill>
                <a:latin typeface="Arial"/>
              </a:rPr>
              <a:t>. Diga qué ocurriría si el elemento </a:t>
            </a:r>
            <a:r>
              <a:rPr sz="1950" b="0">
                <a:solidFill>
                  <a:srgbClr val="000000"/>
                </a:solidFill>
                <a:latin typeface="Consolas"/>
              </a:rPr>
              <a:t>(2,2)</a:t>
            </a:r>
            <a:r>
              <a:rPr sz="1950" b="0">
                <a:solidFill>
                  <a:srgbClr val="000000"/>
                </a:solidFill>
                <a:latin typeface="Arial"/>
              </a:rPr>
              <a:t> fuera </a:t>
            </a:r>
            <a:r>
              <a:rPr sz="1950" b="0">
                <a:solidFill>
                  <a:srgbClr val="000000"/>
                </a:solidFill>
                <a:latin typeface="Consolas"/>
              </a:rPr>
              <a:t>5/3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INVERSA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87818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87818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96592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2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4455898f51c0de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18" y="2340406"/>
            <a:ext cx="2983915" cy="282321"/>
          </a:xfrm>
          <a:prstGeom prst="rect">
            <a:avLst/>
          </a:prstGeom>
        </p:spPr>
      </p:pic>
      <p:pic>
        <p:nvPicPr>
          <p:cNvPr id="12" name="Picture 11" descr="f_2cc9a5705aa5a5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716" y="2779090"/>
            <a:ext cx="2093518" cy="742721"/>
          </a:xfrm>
          <a:prstGeom prst="rect">
            <a:avLst/>
          </a:prstGeom>
        </p:spPr>
      </p:pic>
      <p:pic>
        <p:nvPicPr>
          <p:cNvPr id="13" name="Picture 12" descr="f_5891ca6e33288d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923" y="3678174"/>
            <a:ext cx="1987105" cy="7448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024958"/>
            <a:ext cx="10872216" cy="54099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5" b="0">
                <a:solidFill>
                  <a:srgbClr val="000000"/>
                </a:solidFill>
                <a:latin typeface="Arial"/>
              </a:rPr>
              <a:t>Con </a:t>
            </a:r>
            <a:r>
              <a:rPr sz="1805" b="0">
                <a:solidFill>
                  <a:srgbClr val="000000"/>
                </a:solidFill>
                <a:latin typeface="Consolas"/>
              </a:rPr>
              <a:t>(2,2) = 5/3</a:t>
            </a:r>
            <a:r>
              <a:rPr sz="1805" b="0">
                <a:solidFill>
                  <a:srgbClr val="000000"/>
                </a:solidFill>
                <a:latin typeface="Arial"/>
              </a:rPr>
              <a:t> el determinante sería </a:t>
            </a:r>
            <a:r>
              <a:rPr sz="1805" b="0">
                <a:solidFill>
                  <a:srgbClr val="000000"/>
                </a:solidFill>
                <a:latin typeface="Consolas"/>
              </a:rPr>
              <a:t>3·(5/3) − 5 = 0</a:t>
            </a:r>
            <a:r>
              <a:rPr sz="1805" b="0">
                <a:solidFill>
                  <a:srgbClr val="000000"/>
                </a:solidFill>
                <a:latin typeface="Arial"/>
              </a:rPr>
              <a:t>: la segunda fila sería múltiplo de la primera y la matriz </a:t>
            </a:r>
            <a:r>
              <a:rPr sz="1805" b="1">
                <a:solidFill>
                  <a:srgbClr val="000000"/>
                </a:solidFill>
                <a:latin typeface="Arial"/>
              </a:rPr>
              <a:t>no tendría inversa</a:t>
            </a:r>
            <a:r>
              <a:rPr sz="1805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CUÁNTAS FILAS APORTAN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</a:t>
            </a:r>
            <a:r>
              <a:rPr sz="1950" b="1">
                <a:solidFill>
                  <a:srgbClr val="000000"/>
                </a:solidFill>
                <a:latin typeface="Arial"/>
              </a:rPr>
              <a:t>rango</a:t>
            </a:r>
            <a:r>
              <a:rPr sz="1950" b="0">
                <a:solidFill>
                  <a:srgbClr val="000000"/>
                </a:solidFill>
                <a:latin typeface="Arial"/>
              </a:rPr>
              <a:t> de una matriz es el número de filas —o de columnas, es el mismo— linealmente independientes. Equivale al mayor orden de un menor con determinante no nulo.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61097"/>
            <a:ext cx="10872216" cy="85725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861097"/>
            <a:ext cx="54864" cy="85725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_297890d43ff2aa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55" y="3135417"/>
            <a:ext cx="2850642" cy="308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147902"/>
            <a:ext cx="10872216" cy="58445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Una matriz cuadrada </a:t>
            </a:r>
            <a:r>
              <a:rPr sz="1950" b="0">
                <a:solidFill>
                  <a:srgbClr val="000000"/>
                </a:solidFill>
                <a:latin typeface="Consolas"/>
              </a:rPr>
              <a:t>n×n</a:t>
            </a:r>
            <a:r>
              <a:rPr sz="1950" b="0">
                <a:solidFill>
                  <a:srgbClr val="000000"/>
                </a:solidFill>
                <a:latin typeface="Arial"/>
              </a:rPr>
              <a:t> tiene </a:t>
            </a:r>
            <a:r>
              <a:rPr sz="1950" b="1">
                <a:solidFill>
                  <a:srgbClr val="000000"/>
                </a:solidFill>
                <a:latin typeface="Arial"/>
              </a:rPr>
              <a:t>rango completo</a:t>
            </a:r>
            <a:r>
              <a:rPr sz="1950" b="0">
                <a:solidFill>
                  <a:srgbClr val="000000"/>
                </a:solidFill>
                <a:latin typeface="Arial"/>
              </a:rPr>
              <a:t> cuando su rango vale </a:t>
            </a:r>
            <a:r>
              <a:rPr sz="1950" b="0">
                <a:solidFill>
                  <a:srgbClr val="000000"/>
                </a:solidFill>
                <a:latin typeface="Consolas"/>
              </a:rPr>
              <a:t>n</a:t>
            </a:r>
            <a:r>
              <a:rPr sz="1950" b="0">
                <a:solidFill>
                  <a:srgbClr val="000000"/>
                </a:solidFill>
                <a:latin typeface="Arial"/>
              </a:rPr>
              <a:t>, y eso ocurre exactamente cuando es no singular.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rango mide información, no tamaño: una matriz grande con filas repetidas tiene rango pequeño.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RANGO COMPLETO Y DETERMINANTE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una matriz cuadrada las dos ideas son la misma: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02083"/>
            <a:ext cx="10872216" cy="1991105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02083"/>
            <a:ext cx="54864" cy="1991105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720955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1c3d8a3d41c406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533" y="3068427"/>
            <a:ext cx="3659886" cy="310896"/>
          </a:xfrm>
          <a:prstGeom prst="rect">
            <a:avLst/>
          </a:prstGeom>
        </p:spPr>
      </p:pic>
      <p:pic>
        <p:nvPicPr>
          <p:cNvPr id="13" name="Picture 12" descr="f_12a9d9a9885b51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788" y="3543915"/>
            <a:ext cx="1865376" cy="288036"/>
          </a:xfrm>
          <a:prstGeom prst="rect">
            <a:avLst/>
          </a:prstGeom>
        </p:spPr>
      </p:pic>
      <p:pic>
        <p:nvPicPr>
          <p:cNvPr id="14" name="Picture 13" descr="f_3d5a1ade69e5aa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996543"/>
            <a:ext cx="3008376" cy="2400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Rango completo, determinante no nulo, inversa existente y núcleo trivial son </a:t>
            </a:r>
            <a:r>
              <a:rPr sz="1850" b="1">
                <a:solidFill>
                  <a:srgbClr val="000000"/>
                </a:solidFill>
                <a:latin typeface="Arial"/>
              </a:rPr>
              <a:t>cuatro formas de decir lo mismo</a:t>
            </a:r>
            <a:r>
              <a:rPr sz="1850" b="0">
                <a:solidFill>
                  <a:srgbClr val="000000"/>
                </a:solidFill>
                <a:latin typeface="Arial"/>
              </a:rPr>
              <a:t>. En los criterios del curso se usa la que resulte más cómoda de calcular.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DOS MATRICES DE CONTROLABILIDAD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EJEMPLO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4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46563"/>
                <a:gridCol w="3558179"/>
                <a:gridCol w="1383736"/>
                <a:gridCol w="1383736"/>
              </a:tblGrid>
              <a:tr h="53035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SISTEMA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MATRIZ [B  AB]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DET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RANGO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onsolas"/>
                        </a:rPr>
                        <a:t>A = [[0,1],[−2,−3]], B = [0;1]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onsolas"/>
                        </a:rPr>
                        <a:t>[[0, 1], [1, −3]]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onsolas"/>
                        </a:rPr>
                        <a:t>A = [[1,0],[0,2]], B = [1;0]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onsolas"/>
                        </a:rPr>
                        <a:t>[[1, 1], [0, 0]]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primero tiene rango completo y es </a:t>
            </a:r>
            <a:r>
              <a:rPr sz="1850" b="1">
                <a:solidFill>
                  <a:srgbClr val="000000"/>
                </a:solidFill>
                <a:latin typeface="Arial"/>
              </a:rPr>
              <a:t>controlable</a:t>
            </a:r>
            <a:r>
              <a:rPr sz="1850" b="0">
                <a:solidFill>
                  <a:srgbClr val="000000"/>
                </a:solidFill>
                <a:latin typeface="Arial"/>
              </a:rPr>
              <a:t>; el segundo tiene una fila nula y solo alcanza rango 1: el segundo estado nunca recibe la entrada.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DETERMINE EL RANGO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Calcule el rango de las dos matrices siguientes:</a:t>
            </a:r>
          </a:p>
        </p:txBody>
      </p:sp>
      <p:pic>
        <p:nvPicPr>
          <p:cNvPr id="9" name="Picture 8" descr="f_7206b9a24c17a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834" y="2788539"/>
            <a:ext cx="3415284" cy="1115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553331"/>
            <a:ext cx="10872216" cy="2922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En el caso de </a:t>
            </a:r>
            <a:r>
              <a:rPr sz="1950" b="0">
                <a:solidFill>
                  <a:srgbClr val="000000"/>
                </a:solidFill>
                <a:latin typeface="Consolas"/>
              </a:rPr>
              <a:t>R</a:t>
            </a:r>
            <a:r>
              <a:rPr sz="1950" b="0">
                <a:solidFill>
                  <a:srgbClr val="000000"/>
                </a:solidFill>
                <a:latin typeface="Arial"/>
              </a:rPr>
              <a:t>, indique qué relación entre sus filas explica el resultado.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RANGO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07340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07340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b003f502bea59d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898" y="2350008"/>
            <a:ext cx="9249156" cy="774954"/>
          </a:xfrm>
          <a:prstGeom prst="rect">
            <a:avLst/>
          </a:prstGeom>
        </p:spPr>
      </p:pic>
      <p:pic>
        <p:nvPicPr>
          <p:cNvPr id="12" name="Picture 11" descr="f_c3c3b07cd979eb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364" y="3289554"/>
            <a:ext cx="4078224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En </a:t>
            </a:r>
            <a:r>
              <a:rPr sz="1850" b="0">
                <a:solidFill>
                  <a:srgbClr val="000000"/>
                </a:solidFill>
                <a:latin typeface="Consolas"/>
              </a:rPr>
              <a:t>R</a:t>
            </a:r>
            <a:r>
              <a:rPr sz="1850" b="0">
                <a:solidFill>
                  <a:srgbClr val="000000"/>
                </a:solidFill>
                <a:latin typeface="Arial"/>
              </a:rPr>
              <a:t> la segunda fila es </a:t>
            </a:r>
            <a:r>
              <a:rPr sz="1850" b="1">
                <a:solidFill>
                  <a:srgbClr val="000000"/>
                </a:solidFill>
                <a:latin typeface="Arial"/>
              </a:rPr>
              <a:t>el doble de la primera</a:t>
            </a:r>
            <a:r>
              <a:rPr sz="1850" b="0">
                <a:solidFill>
                  <a:srgbClr val="000000"/>
                </a:solidFill>
                <a:latin typeface="Arial"/>
              </a:rPr>
              <a:t>: no aporta información nueva. </a:t>
            </a:r>
            <a:r>
              <a:rPr sz="1850" b="0">
                <a:solidFill>
                  <a:srgbClr val="000000"/>
                </a:solidFill>
                <a:latin typeface="Consolas"/>
              </a:rPr>
              <a:t>S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2x2</a:t>
            </a:r>
            <a:r>
              <a:rPr sz="1850" b="0">
                <a:solidFill>
                  <a:srgbClr val="000000"/>
                </a:solidFill>
                <a:latin typeface="Arial"/>
              </a:rPr>
              <a:t> con rango 2, o sea rango completo; </a:t>
            </a:r>
            <a:r>
              <a:rPr sz="1850" b="0">
                <a:solidFill>
                  <a:srgbClr val="000000"/>
                </a:solidFill>
                <a:latin typeface="Consolas"/>
              </a:rPr>
              <a:t>R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3x3</a:t>
            </a:r>
            <a:r>
              <a:rPr sz="1850" b="0">
                <a:solidFill>
                  <a:srgbClr val="000000"/>
                </a:solidFill>
                <a:latin typeface="Arial"/>
              </a:rPr>
              <a:t> con rango 2, o sea deficiente.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